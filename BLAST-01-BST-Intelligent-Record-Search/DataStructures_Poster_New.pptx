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6858000" cy="9144000"/>
  <p:embeddedFontLst>
    <p:embeddedFont>
      <p:font typeface="Arial Black" panose="020B0A04020102020204" pitchFamily="34" charset="0"/>
      <p:bold r:id="rId4"/>
    </p:embeddedFont>
    <p:embeddedFont>
      <p:font typeface="Garamond" panose="02020404030301010803" pitchFamily="18" charset="0"/>
      <p:regular r:id="rId5"/>
      <p:bold r:id="rId6"/>
      <p:italic r:id="rId7"/>
    </p:embeddedFont>
    <p:embeddedFont>
      <p:font typeface="Helvetica Neue" panose="020B060402020202020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h6s/6j4kNOWpoJDMPdlVG1TC5k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00"/>
    <a:srgbClr val="8E0000"/>
    <a:srgbClr val="48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AEE3A9-5F62-4FD3-B9F3-D63B76853DFB}" v="1" dt="2026-10-29T04:29:39.5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5243" autoAdjust="0"/>
  </p:normalViewPr>
  <p:slideViewPr>
    <p:cSldViewPr snapToGrid="0">
      <p:cViewPr>
        <p:scale>
          <a:sx n="40" d="100"/>
          <a:sy n="40" d="100"/>
        </p:scale>
        <p:origin x="30" y="-2940"/>
      </p:cViewPr>
      <p:guideLst>
        <p:guide orient="horz" pos="10368"/>
        <p:guide pos="13824"/>
      </p:guideLst>
    </p:cSldViewPr>
  </p:slideViewPr>
  <p:outlineViewPr>
    <p:cViewPr>
      <p:scale>
        <a:sx n="33" d="100"/>
        <a:sy n="33" d="100"/>
      </p:scale>
      <p:origin x="0" y="0"/>
    </p:cViewPr>
  </p:outlineViewPr>
  <p:notesTextViewPr>
    <p:cViewPr>
      <p:scale>
        <a:sx n="20" d="100"/>
        <a:sy n="20" d="100"/>
      </p:scale>
      <p:origin x="0" y="0"/>
    </p:cViewPr>
  </p:notesTextViewPr>
  <p:sorterViewPr>
    <p:cViewPr>
      <p:scale>
        <a:sx n="100" d="100"/>
        <a:sy n="100" d="100"/>
      </p:scale>
      <p:origin x="0" y="-545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8" Type="http://schemas.openxmlformats.org/officeDocument/2006/relationships/presProps" Target="presProps.xml"/><Relationship Id="rId3" Type="http://schemas.openxmlformats.org/officeDocument/2006/relationships/notesMaster" Target="notesMasters/notesMaster1.xml"/><Relationship Id="rId21" Type="http://schemas.openxmlformats.org/officeDocument/2006/relationships/tableStyles" Target="tableStyles.xml"/><Relationship Id="rId7" Type="http://schemas.openxmlformats.org/officeDocument/2006/relationships/font" Target="fonts/font4.fntdata"/><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23" Type="http://schemas.microsoft.com/office/2015/10/relationships/revisionInfo" Target="revisionInfo.xml"/><Relationship Id="rId10" Type="http://schemas.openxmlformats.org/officeDocument/2006/relationships/font" Target="fonts/font7.fntdata"/><Relationship Id="rId19"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font" Target="fonts/font6.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 Mahadeva" userId="2d3d2e38f9c357bf" providerId="LiveId" clId="{89A268DB-4518-41DC-B1E4-35446A2DC78F}"/>
    <pc:docChg chg="modSld">
      <pc:chgData name="Naga Mahadeva" userId="2d3d2e38f9c357bf" providerId="LiveId" clId="{89A268DB-4518-41DC-B1E4-35446A2DC78F}" dt="2026-10-29T04:30:50.054" v="203" actId="20577"/>
      <pc:docMkLst>
        <pc:docMk/>
      </pc:docMkLst>
      <pc:sldChg chg="modSp mod">
        <pc:chgData name="Naga Mahadeva" userId="2d3d2e38f9c357bf" providerId="LiveId" clId="{89A268DB-4518-41DC-B1E4-35446A2DC78F}" dt="2026-10-29T04:30:50.054" v="203" actId="20577"/>
        <pc:sldMkLst>
          <pc:docMk/>
          <pc:sldMk cId="0" sldId="256"/>
        </pc:sldMkLst>
        <pc:spChg chg="mod">
          <ac:chgData name="Naga Mahadeva" userId="2d3d2e38f9c357bf" providerId="LiveId" clId="{89A268DB-4518-41DC-B1E4-35446A2DC78F}" dt="2026-10-29T04:30:50.054" v="203" actId="20577"/>
          <ac:spMkLst>
            <pc:docMk/>
            <pc:sldMk cId="0" sldId="256"/>
            <ac:spMk id="18" creationId="{3B90F417-DB7E-5A40-4D44-07A8520066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
        <p:nvSpPr>
          <p:cNvPr id="70" name="Google Shape;70;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8000"/>
              </a:lnSpc>
              <a:spcBef>
                <a:spcPts val="0"/>
              </a:spcBef>
              <a:spcAft>
                <a:spcPts val="0"/>
              </a:spcAft>
              <a:buSzPts val="1400"/>
              <a:buNone/>
            </a:pPr>
            <a:endParaRPr dirty="0">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3"/>
          <p:cNvSpPr/>
          <p:nvPr/>
        </p:nvSpPr>
        <p:spPr>
          <a:xfrm>
            <a:off x="0" y="0"/>
            <a:ext cx="43891200" cy="5255100"/>
          </a:xfrm>
          <a:prstGeom prst="rect">
            <a:avLst/>
          </a:prstGeom>
          <a:solidFill>
            <a:srgbClr val="CCCC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
          <p:cNvSpPr/>
          <p:nvPr/>
        </p:nvSpPr>
        <p:spPr>
          <a:xfrm>
            <a:off x="0" y="5255100"/>
            <a:ext cx="43891200" cy="27663300"/>
          </a:xfrm>
          <a:prstGeom prst="rect">
            <a:avLst/>
          </a:prstGeom>
          <a:solidFill>
            <a:srgbClr val="FFC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3"/>
          <p:cNvSpPr/>
          <p:nvPr/>
        </p:nvSpPr>
        <p:spPr>
          <a:xfrm>
            <a:off x="690150"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p:nvPr/>
        </p:nvSpPr>
        <p:spPr>
          <a:xfrm>
            <a:off x="1148816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a:off x="22285938"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3306381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3292475" y="10226675"/>
            <a:ext cx="37306250" cy="70548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6583363" y="18653125"/>
            <a:ext cx="30724475" cy="8413750"/>
          </a:xfrm>
          <a:prstGeom prst="rect">
            <a:avLst/>
          </a:prstGeom>
          <a:noFill/>
          <a:ln>
            <a:noFill/>
          </a:ln>
        </p:spPr>
        <p:txBody>
          <a:bodyPr spcFirstLastPara="1" wrap="square" lIns="456400" tIns="456400" rIns="456400" bIns="456400" anchor="t" anchorCtr="0">
            <a:noAutofit/>
          </a:bodyPr>
          <a:lstStyle>
            <a:lvl1pPr lvl="0" algn="ctr">
              <a:lnSpc>
                <a:spcPct val="100000"/>
              </a:lnSpc>
              <a:spcBef>
                <a:spcPts val="600"/>
              </a:spcBef>
              <a:spcAft>
                <a:spcPts val="0"/>
              </a:spcAft>
              <a:buClr>
                <a:schemeClr val="dk1"/>
              </a:buClr>
              <a:buSzPts val="2900"/>
              <a:buFont typeface="Arial"/>
              <a:buNone/>
              <a:defRPr/>
            </a:lvl1pPr>
            <a:lvl2pPr lvl="1" algn="ctr">
              <a:lnSpc>
                <a:spcPct val="100000"/>
              </a:lnSpc>
              <a:spcBef>
                <a:spcPts val="600"/>
              </a:spcBef>
              <a:spcAft>
                <a:spcPts val="0"/>
              </a:spcAft>
              <a:buClr>
                <a:schemeClr val="dk1"/>
              </a:buClr>
              <a:buSzPts val="2900"/>
              <a:buFont typeface="Arial"/>
              <a:buNone/>
              <a:defRPr/>
            </a:lvl2pPr>
            <a:lvl3pPr lvl="2" algn="ctr">
              <a:lnSpc>
                <a:spcPct val="100000"/>
              </a:lnSpc>
              <a:spcBef>
                <a:spcPts val="600"/>
              </a:spcBef>
              <a:spcAft>
                <a:spcPts val="0"/>
              </a:spcAft>
              <a:buClr>
                <a:schemeClr val="dk1"/>
              </a:buClr>
              <a:buSzPts val="2900"/>
              <a:buFont typeface="Arial"/>
              <a:buNone/>
              <a:defRPr/>
            </a:lvl3pPr>
            <a:lvl4pPr lvl="3" algn="ctr">
              <a:lnSpc>
                <a:spcPct val="100000"/>
              </a:lnSpc>
              <a:spcBef>
                <a:spcPts val="600"/>
              </a:spcBef>
              <a:spcAft>
                <a:spcPts val="0"/>
              </a:spcAft>
              <a:buClr>
                <a:schemeClr val="dk1"/>
              </a:buClr>
              <a:buSzPts val="2900"/>
              <a:buFont typeface="Arial"/>
              <a:buNone/>
              <a:defRPr/>
            </a:lvl4pPr>
            <a:lvl5pPr lvl="4" algn="ctr">
              <a:lnSpc>
                <a:spcPct val="100000"/>
              </a:lnSpc>
              <a:spcBef>
                <a:spcPts val="600"/>
              </a:spcBef>
              <a:spcAft>
                <a:spcPts val="0"/>
              </a:spcAft>
              <a:buClr>
                <a:schemeClr val="dk1"/>
              </a:buClr>
              <a:buSzPts val="2900"/>
              <a:buFont typeface="Arial"/>
              <a:buNone/>
              <a:defRPr/>
            </a:lvl5pPr>
            <a:lvl6pPr lvl="5" algn="ctr">
              <a:lnSpc>
                <a:spcPct val="100000"/>
              </a:lnSpc>
              <a:spcBef>
                <a:spcPts val="600"/>
              </a:spcBef>
              <a:spcAft>
                <a:spcPts val="0"/>
              </a:spcAft>
              <a:buClr>
                <a:schemeClr val="dk1"/>
              </a:buClr>
              <a:buSzPts val="2900"/>
              <a:buFont typeface="Arial"/>
              <a:buNone/>
              <a:defRPr/>
            </a:lvl6pPr>
            <a:lvl7pPr lvl="6" algn="ctr">
              <a:lnSpc>
                <a:spcPct val="100000"/>
              </a:lnSpc>
              <a:spcBef>
                <a:spcPts val="600"/>
              </a:spcBef>
              <a:spcAft>
                <a:spcPts val="0"/>
              </a:spcAft>
              <a:buClr>
                <a:schemeClr val="dk1"/>
              </a:buClr>
              <a:buSzPts val="2900"/>
              <a:buFont typeface="Arial"/>
              <a:buNone/>
              <a:defRPr/>
            </a:lvl7pPr>
            <a:lvl8pPr lvl="7" algn="ctr">
              <a:lnSpc>
                <a:spcPct val="100000"/>
              </a:lnSpc>
              <a:spcBef>
                <a:spcPts val="600"/>
              </a:spcBef>
              <a:spcAft>
                <a:spcPts val="0"/>
              </a:spcAft>
              <a:buClr>
                <a:schemeClr val="dk1"/>
              </a:buClr>
              <a:buSzPts val="2900"/>
              <a:buFont typeface="Arial"/>
              <a:buNone/>
              <a:defRPr/>
            </a:lvl8pPr>
            <a:lvl9pPr lvl="8" algn="ctr">
              <a:lnSpc>
                <a:spcPct val="100000"/>
              </a:lnSpc>
              <a:spcBef>
                <a:spcPts val="600"/>
              </a:spcBef>
              <a:spcAft>
                <a:spcPts val="0"/>
              </a:spcAft>
              <a:buClr>
                <a:schemeClr val="dk1"/>
              </a:buClr>
              <a:buSzPts val="2900"/>
              <a:buFont typeface="Arial"/>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467100" y="21153438"/>
            <a:ext cx="37307838" cy="6537325"/>
          </a:xfrm>
          <a:prstGeom prst="rect">
            <a:avLst/>
          </a:prstGeom>
          <a:noFill/>
          <a:ln>
            <a:noFill/>
          </a:ln>
        </p:spPr>
        <p:txBody>
          <a:bodyPr spcFirstLastPara="1" wrap="square" lIns="45600" tIns="45600" rIns="45600" bIns="456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3467100" y="13952538"/>
            <a:ext cx="37307838" cy="7200900"/>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000"/>
              <a:buFont typeface="Arial"/>
              <a:buNone/>
              <a:defRPr sz="2000"/>
            </a:lvl1pPr>
            <a:lvl2pPr marL="914400" lvl="1" indent="-228600" algn="l">
              <a:lnSpc>
                <a:spcPct val="100000"/>
              </a:lnSpc>
              <a:spcBef>
                <a:spcPts val="600"/>
              </a:spcBef>
              <a:spcAft>
                <a:spcPts val="0"/>
              </a:spcAft>
              <a:buClr>
                <a:schemeClr val="dk1"/>
              </a:buClr>
              <a:buSzPts val="1800"/>
              <a:buFont typeface="Arial"/>
              <a:buNone/>
              <a:defRPr sz="1800"/>
            </a:lvl2pPr>
            <a:lvl3pPr marL="1371600" lvl="2" indent="-228600" algn="l">
              <a:lnSpc>
                <a:spcPct val="100000"/>
              </a:lnSpc>
              <a:spcBef>
                <a:spcPts val="600"/>
              </a:spcBef>
              <a:spcAft>
                <a:spcPts val="0"/>
              </a:spcAft>
              <a:buClr>
                <a:schemeClr val="dk1"/>
              </a:buClr>
              <a:buSzPts val="1600"/>
              <a:buFont typeface="Arial"/>
              <a:buNone/>
              <a:defRPr sz="1600"/>
            </a:lvl3pPr>
            <a:lvl4pPr marL="1828800" lvl="3" indent="-228600" algn="l">
              <a:lnSpc>
                <a:spcPct val="100000"/>
              </a:lnSpc>
              <a:spcBef>
                <a:spcPts val="600"/>
              </a:spcBef>
              <a:spcAft>
                <a:spcPts val="0"/>
              </a:spcAft>
              <a:buClr>
                <a:schemeClr val="dk1"/>
              </a:buClr>
              <a:buSzPts val="1400"/>
              <a:buFont typeface="Arial"/>
              <a:buNone/>
              <a:defRPr sz="1400"/>
            </a:lvl4pPr>
            <a:lvl5pPr marL="2286000" lvl="4" indent="-228600" algn="l">
              <a:lnSpc>
                <a:spcPct val="100000"/>
              </a:lnSpc>
              <a:spcBef>
                <a:spcPts val="600"/>
              </a:spcBef>
              <a:spcAft>
                <a:spcPts val="0"/>
              </a:spcAft>
              <a:buClr>
                <a:schemeClr val="dk1"/>
              </a:buClr>
              <a:buSzPts val="1400"/>
              <a:buFont typeface="Arial"/>
              <a:buNone/>
              <a:defRPr sz="1400"/>
            </a:lvl5pPr>
            <a:lvl6pPr marL="2743200" lvl="5" indent="-228600" algn="l">
              <a:lnSpc>
                <a:spcPct val="100000"/>
              </a:lnSpc>
              <a:spcBef>
                <a:spcPts val="600"/>
              </a:spcBef>
              <a:spcAft>
                <a:spcPts val="0"/>
              </a:spcAft>
              <a:buClr>
                <a:schemeClr val="dk1"/>
              </a:buClr>
              <a:buSzPts val="1400"/>
              <a:buFont typeface="Arial"/>
              <a:buNone/>
              <a:defRPr sz="1400"/>
            </a:lvl6pPr>
            <a:lvl7pPr marL="3200400" lvl="6" indent="-228600" algn="l">
              <a:lnSpc>
                <a:spcPct val="100000"/>
              </a:lnSpc>
              <a:spcBef>
                <a:spcPts val="600"/>
              </a:spcBef>
              <a:spcAft>
                <a:spcPts val="0"/>
              </a:spcAft>
              <a:buClr>
                <a:schemeClr val="dk1"/>
              </a:buClr>
              <a:buSzPts val="1400"/>
              <a:buFont typeface="Arial"/>
              <a:buNone/>
              <a:defRPr sz="1400"/>
            </a:lvl7pPr>
            <a:lvl8pPr marL="3657600" lvl="7" indent="-228600" algn="l">
              <a:lnSpc>
                <a:spcPct val="100000"/>
              </a:lnSpc>
              <a:spcBef>
                <a:spcPts val="600"/>
              </a:spcBef>
              <a:spcAft>
                <a:spcPts val="0"/>
              </a:spcAft>
              <a:buClr>
                <a:schemeClr val="dk1"/>
              </a:buClr>
              <a:buSzPts val="1400"/>
              <a:buFont typeface="Arial"/>
              <a:buNone/>
              <a:defRPr sz="1400"/>
            </a:lvl8pPr>
            <a:lvl9pPr marL="4114800" lvl="8" indent="-228600" algn="l">
              <a:lnSpc>
                <a:spcPct val="100000"/>
              </a:lnSpc>
              <a:spcBef>
                <a:spcPts val="600"/>
              </a:spcBef>
              <a:spcAft>
                <a:spcPts val="0"/>
              </a:spcAft>
              <a:buClr>
                <a:schemeClr val="dk1"/>
              </a:buClr>
              <a:buSzPts val="1400"/>
              <a:buFont typeface="Arial"/>
              <a:buNone/>
              <a:defRPr sz="1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693738" y="5638800"/>
            <a:ext cx="21018500"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
        <p:nvSpPr>
          <p:cNvPr id="35" name="Google Shape;35;p7"/>
          <p:cNvSpPr txBox="1">
            <a:spLocks noGrp="1"/>
          </p:cNvSpPr>
          <p:nvPr>
            <p:ph type="body" idx="2"/>
          </p:nvPr>
        </p:nvSpPr>
        <p:spPr>
          <a:xfrm>
            <a:off x="21864638" y="5638800"/>
            <a:ext cx="21020087"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2193925" y="1317625"/>
            <a:ext cx="39503350" cy="548640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2193925" y="7369175"/>
            <a:ext cx="19392900"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39" name="Google Shape;39;p8"/>
          <p:cNvSpPr txBox="1">
            <a:spLocks noGrp="1"/>
          </p:cNvSpPr>
          <p:nvPr>
            <p:ph type="body" idx="2"/>
          </p:nvPr>
        </p:nvSpPr>
        <p:spPr>
          <a:xfrm>
            <a:off x="2193925" y="10439400"/>
            <a:ext cx="19392900"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
        <p:nvSpPr>
          <p:cNvPr id="40" name="Google Shape;40;p8"/>
          <p:cNvSpPr txBox="1">
            <a:spLocks noGrp="1"/>
          </p:cNvSpPr>
          <p:nvPr>
            <p:ph type="body" idx="3"/>
          </p:nvPr>
        </p:nvSpPr>
        <p:spPr>
          <a:xfrm>
            <a:off x="22296438" y="7369175"/>
            <a:ext cx="19400837"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41" name="Google Shape;41;p8"/>
          <p:cNvSpPr txBox="1">
            <a:spLocks noGrp="1"/>
          </p:cNvSpPr>
          <p:nvPr>
            <p:ph type="body" idx="4"/>
          </p:nvPr>
        </p:nvSpPr>
        <p:spPr>
          <a:xfrm>
            <a:off x="22296438" y="10439400"/>
            <a:ext cx="19400837"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2193925" y="1311275"/>
            <a:ext cx="14439900" cy="5576888"/>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6" name="Google Shape;46;p10"/>
          <p:cNvSpPr txBox="1">
            <a:spLocks noGrp="1"/>
          </p:cNvSpPr>
          <p:nvPr>
            <p:ph type="body" idx="1"/>
          </p:nvPr>
        </p:nvSpPr>
        <p:spPr>
          <a:xfrm>
            <a:off x="17160875" y="1311275"/>
            <a:ext cx="24536400" cy="28093988"/>
          </a:xfrm>
          <a:prstGeom prst="rect">
            <a:avLst/>
          </a:prstGeom>
          <a:noFill/>
          <a:ln>
            <a:noFill/>
          </a:ln>
        </p:spPr>
        <p:txBody>
          <a:bodyPr spcFirstLastPara="1" wrap="square" lIns="456400" tIns="456400" rIns="456400" bIns="456400" anchor="t" anchorCtr="0">
            <a:noAutofit/>
          </a:bodyPr>
          <a:lstStyle>
            <a:lvl1pPr marL="457200" lvl="0" indent="-431800" algn="l">
              <a:lnSpc>
                <a:spcPct val="100000"/>
              </a:lnSpc>
              <a:spcBef>
                <a:spcPts val="600"/>
              </a:spcBef>
              <a:spcAft>
                <a:spcPts val="0"/>
              </a:spcAft>
              <a:buClr>
                <a:schemeClr val="dk1"/>
              </a:buClr>
              <a:buSzPts val="3200"/>
              <a:buFont typeface="Arial"/>
              <a:buChar char="»"/>
              <a:defRPr sz="3200"/>
            </a:lvl1pPr>
            <a:lvl2pPr marL="914400" lvl="1" indent="-406400" algn="l">
              <a:lnSpc>
                <a:spcPct val="100000"/>
              </a:lnSpc>
              <a:spcBef>
                <a:spcPts val="600"/>
              </a:spcBef>
              <a:spcAft>
                <a:spcPts val="0"/>
              </a:spcAft>
              <a:buClr>
                <a:schemeClr val="dk1"/>
              </a:buClr>
              <a:buSzPts val="2800"/>
              <a:buFont typeface="Arial"/>
              <a:buChar char="–"/>
              <a:defRPr sz="2800"/>
            </a:lvl2pPr>
            <a:lvl3pPr marL="1371600" lvl="2" indent="-381000" algn="l">
              <a:lnSpc>
                <a:spcPct val="100000"/>
              </a:lnSpc>
              <a:spcBef>
                <a:spcPts val="600"/>
              </a:spcBef>
              <a:spcAft>
                <a:spcPts val="0"/>
              </a:spcAft>
              <a:buClr>
                <a:schemeClr val="dk1"/>
              </a:buClr>
              <a:buSzPts val="2400"/>
              <a:buFont typeface="Arial"/>
              <a:buChar char="•"/>
              <a:defRPr sz="2400"/>
            </a:lvl3pPr>
            <a:lvl4pPr marL="1828800" lvl="3" indent="-355600" algn="l">
              <a:lnSpc>
                <a:spcPct val="100000"/>
              </a:lnSpc>
              <a:spcBef>
                <a:spcPts val="600"/>
              </a:spcBef>
              <a:spcAft>
                <a:spcPts val="0"/>
              </a:spcAft>
              <a:buClr>
                <a:schemeClr val="dk1"/>
              </a:buClr>
              <a:buSzPts val="2000"/>
              <a:buFont typeface="Arial"/>
              <a:buChar char="–"/>
              <a:defRPr sz="2000"/>
            </a:lvl4pPr>
            <a:lvl5pPr marL="2286000" lvl="4" indent="-355600" algn="l">
              <a:lnSpc>
                <a:spcPct val="100000"/>
              </a:lnSpc>
              <a:spcBef>
                <a:spcPts val="600"/>
              </a:spcBef>
              <a:spcAft>
                <a:spcPts val="0"/>
              </a:spcAft>
              <a:buClr>
                <a:schemeClr val="dk1"/>
              </a:buClr>
              <a:buSzPts val="2000"/>
              <a:buFont typeface="Arial"/>
              <a:buChar char="»"/>
              <a:defRPr sz="2000"/>
            </a:lvl5pPr>
            <a:lvl6pPr marL="2743200" lvl="5" indent="-355600" algn="l">
              <a:lnSpc>
                <a:spcPct val="100000"/>
              </a:lnSpc>
              <a:spcBef>
                <a:spcPts val="600"/>
              </a:spcBef>
              <a:spcAft>
                <a:spcPts val="0"/>
              </a:spcAft>
              <a:buClr>
                <a:schemeClr val="dk1"/>
              </a:buClr>
              <a:buSzPts val="2000"/>
              <a:buFont typeface="Arial"/>
              <a:buChar char="»"/>
              <a:defRPr sz="2000"/>
            </a:lvl6pPr>
            <a:lvl7pPr marL="3200400" lvl="6" indent="-355600" algn="l">
              <a:lnSpc>
                <a:spcPct val="100000"/>
              </a:lnSpc>
              <a:spcBef>
                <a:spcPts val="600"/>
              </a:spcBef>
              <a:spcAft>
                <a:spcPts val="0"/>
              </a:spcAft>
              <a:buClr>
                <a:schemeClr val="dk1"/>
              </a:buClr>
              <a:buSzPts val="2000"/>
              <a:buFont typeface="Arial"/>
              <a:buChar char="»"/>
              <a:defRPr sz="2000"/>
            </a:lvl7pPr>
            <a:lvl8pPr marL="3657600" lvl="7" indent="-355600" algn="l">
              <a:lnSpc>
                <a:spcPct val="100000"/>
              </a:lnSpc>
              <a:spcBef>
                <a:spcPts val="600"/>
              </a:spcBef>
              <a:spcAft>
                <a:spcPts val="0"/>
              </a:spcAft>
              <a:buClr>
                <a:schemeClr val="dk1"/>
              </a:buClr>
              <a:buSzPts val="2000"/>
              <a:buFont typeface="Arial"/>
              <a:buChar char="»"/>
              <a:defRPr sz="2000"/>
            </a:lvl8pPr>
            <a:lvl9pPr marL="4114800" lvl="8" indent="-355600" algn="l">
              <a:lnSpc>
                <a:spcPct val="100000"/>
              </a:lnSpc>
              <a:spcBef>
                <a:spcPts val="600"/>
              </a:spcBef>
              <a:spcAft>
                <a:spcPts val="0"/>
              </a:spcAft>
              <a:buClr>
                <a:schemeClr val="dk1"/>
              </a:buClr>
              <a:buSzPts val="2000"/>
              <a:buFont typeface="Arial"/>
              <a:buChar char="»"/>
              <a:defRPr sz="2000"/>
            </a:lvl9pPr>
          </a:lstStyle>
          <a:p>
            <a:endParaRPr/>
          </a:p>
        </p:txBody>
      </p:sp>
      <p:sp>
        <p:nvSpPr>
          <p:cNvPr id="47" name="Google Shape;47;p10"/>
          <p:cNvSpPr txBox="1">
            <a:spLocks noGrp="1"/>
          </p:cNvSpPr>
          <p:nvPr>
            <p:ph type="body" idx="2"/>
          </p:nvPr>
        </p:nvSpPr>
        <p:spPr>
          <a:xfrm>
            <a:off x="2193925" y="6888163"/>
            <a:ext cx="14439900" cy="22517100"/>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8602663" y="23042563"/>
            <a:ext cx="26335037" cy="2720975"/>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11"/>
          <p:cNvSpPr>
            <a:spLocks noGrp="1"/>
          </p:cNvSpPr>
          <p:nvPr>
            <p:ph type="pic" idx="2"/>
          </p:nvPr>
        </p:nvSpPr>
        <p:spPr>
          <a:xfrm>
            <a:off x="8602663" y="2941638"/>
            <a:ext cx="26335037" cy="19750087"/>
          </a:xfrm>
          <a:prstGeom prst="rect">
            <a:avLst/>
          </a:prstGeom>
          <a:noFill/>
          <a:ln>
            <a:noFill/>
          </a:ln>
        </p:spPr>
        <p:txBody>
          <a:bodyPr/>
          <a:lstStyle/>
          <a:p>
            <a:endParaRPr lang="en-IN"/>
          </a:p>
        </p:txBody>
      </p:sp>
      <p:sp>
        <p:nvSpPr>
          <p:cNvPr id="51" name="Google Shape;51;p11"/>
          <p:cNvSpPr txBox="1">
            <a:spLocks noGrp="1"/>
          </p:cNvSpPr>
          <p:nvPr>
            <p:ph type="body" idx="1"/>
          </p:nvPr>
        </p:nvSpPr>
        <p:spPr>
          <a:xfrm>
            <a:off x="8602663" y="25763538"/>
            <a:ext cx="26335037" cy="3862387"/>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2"/>
        <p:cNvGrpSpPr/>
        <p:nvPr/>
      </p:nvGrpSpPr>
      <p:grpSpPr>
        <a:xfrm>
          <a:off x="0" y="0"/>
          <a:ext cx="0" cy="0"/>
          <a:chOff x="0" y="0"/>
          <a:chExt cx="0" cy="0"/>
        </a:xfrm>
      </p:grpSpPr>
      <p:sp>
        <p:nvSpPr>
          <p:cNvPr id="53" name="Google Shape;53;p1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12"/>
          <p:cNvSpPr txBox="1">
            <a:spLocks noGrp="1"/>
          </p:cNvSpPr>
          <p:nvPr>
            <p:ph type="body" idx="1"/>
          </p:nvPr>
        </p:nvSpPr>
        <p:spPr>
          <a:xfrm rot="5400000">
            <a:off x="8149432" y="-1816893"/>
            <a:ext cx="27279600" cy="4219098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rot="5400000">
            <a:off x="21151850" y="11185525"/>
            <a:ext cx="32918400" cy="105473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rot="5400000">
            <a:off x="-19843" y="713582"/>
            <a:ext cx="32918400" cy="3149123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5"/>
        <p:cNvGrpSpPr/>
        <p:nvPr/>
      </p:nvGrpSpPr>
      <p:grpSpPr>
        <a:xfrm>
          <a:off x="0" y="0"/>
          <a:ext cx="0" cy="0"/>
          <a:chOff x="0" y="0"/>
          <a:chExt cx="0" cy="0"/>
        </a:xfrm>
      </p:grpSpPr>
      <p:sp>
        <p:nvSpPr>
          <p:cNvPr id="6" name="Google Shape;6;p2"/>
          <p:cNvSpPr/>
          <p:nvPr/>
        </p:nvSpPr>
        <p:spPr>
          <a:xfrm>
            <a:off x="0" y="0"/>
            <a:ext cx="43891200" cy="4800600"/>
          </a:xfrm>
          <a:prstGeom prst="rect">
            <a:avLst/>
          </a:prstGeom>
          <a:solidFill>
            <a:srgbClr val="003466"/>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2"/>
          <p:cNvSpPr/>
          <p:nvPr/>
        </p:nvSpPr>
        <p:spPr>
          <a:xfrm>
            <a:off x="693738" y="5638800"/>
            <a:ext cx="9974262"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2"/>
          <p:cNvSpPr/>
          <p:nvPr/>
        </p:nvSpPr>
        <p:spPr>
          <a:xfrm>
            <a:off x="130628" y="4800600"/>
            <a:ext cx="43662600" cy="242887"/>
          </a:xfrm>
          <a:prstGeom prst="rect">
            <a:avLst/>
          </a:prstGeom>
          <a:solidFill>
            <a:srgbClr val="660000"/>
          </a:solidFill>
          <a:ln w="152400" cap="flat" cmpd="sng">
            <a:solidFill>
              <a:srgbClr val="FF99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 name="Google Shape;9;p2"/>
          <p:cNvSpPr/>
          <p:nvPr/>
        </p:nvSpPr>
        <p:spPr>
          <a:xfrm>
            <a:off x="609600" y="32445325"/>
            <a:ext cx="2514600" cy="354013"/>
          </a:xfrm>
          <a:prstGeom prst="rect">
            <a:avLst/>
          </a:prstGeom>
          <a:noFill/>
          <a:ln>
            <a:noFill/>
          </a:ln>
        </p:spPr>
        <p:txBody>
          <a:bodyPr spcFirstLastPara="1" wrap="square" lIns="45600" tIns="45600" rIns="45600" bIns="45600" anchor="t" anchorCtr="0">
            <a:noAutofit/>
          </a:bodyPr>
          <a:lstStyle/>
          <a:p>
            <a:pPr marL="0" marR="0" lvl="0" indent="0" algn="l" rtl="0">
              <a:lnSpc>
                <a:spcPct val="65000"/>
              </a:lnSpc>
              <a:spcBef>
                <a:spcPts val="0"/>
              </a:spcBef>
              <a:spcAft>
                <a:spcPts val="0"/>
              </a:spcAft>
              <a:buClr>
                <a:srgbClr val="000000"/>
              </a:buClr>
              <a:buSzPts val="500"/>
              <a:buFont typeface="Arial"/>
              <a:buNone/>
            </a:pPr>
            <a:r>
              <a:rPr lang="en-US" sz="500" b="1" i="0" u="none" strike="noStrike" cap="none">
                <a:solidFill>
                  <a:srgbClr val="808080"/>
                </a:solidFill>
                <a:latin typeface="Arial"/>
                <a:ea typeface="Arial"/>
                <a:cs typeface="Arial"/>
                <a:sym typeface="Arial"/>
              </a:rPr>
              <a:t>TEMPLATE DESIGN © 2008</a:t>
            </a:r>
            <a:endParaRPr sz="1400" b="0" i="0" u="none" strike="noStrike" cap="none">
              <a:solidFill>
                <a:srgbClr val="000000"/>
              </a:solidFill>
              <a:latin typeface="Arial"/>
              <a:ea typeface="Arial"/>
              <a:cs typeface="Arial"/>
              <a:sym typeface="Arial"/>
            </a:endParaRPr>
          </a:p>
          <a:p>
            <a:pPr marL="0" marR="0" lvl="0" indent="0" algn="l" rtl="0">
              <a:lnSpc>
                <a:spcPct val="65000"/>
              </a:lnSpc>
              <a:spcBef>
                <a:spcPts val="600"/>
              </a:spcBef>
              <a:spcAft>
                <a:spcPts val="0"/>
              </a:spcAft>
              <a:buClr>
                <a:srgbClr val="000000"/>
              </a:buClr>
              <a:buSzPts val="1000"/>
              <a:buFont typeface="Arial"/>
              <a:buNone/>
            </a:pPr>
            <a:r>
              <a:rPr lang="en-US" sz="1000" b="1" i="0" u="none" strike="noStrike" cap="none">
                <a:solidFill>
                  <a:srgbClr val="808080"/>
                </a:solidFill>
                <a:latin typeface="Arial"/>
                <a:ea typeface="Arial"/>
                <a:cs typeface="Arial"/>
                <a:sym typeface="Arial"/>
              </a:rPr>
              <a:t>www.PosterPresentations.com</a:t>
            </a:r>
            <a:endParaRPr sz="1400" b="0" i="0" u="none" strike="noStrike" cap="none">
              <a:solidFill>
                <a:srgbClr val="000000"/>
              </a:solidFill>
              <a:latin typeface="Arial"/>
              <a:ea typeface="Arial"/>
              <a:cs typeface="Arial"/>
              <a:sym typeface="Arial"/>
            </a:endParaRPr>
          </a:p>
        </p:txBody>
      </p:sp>
      <p:sp>
        <p:nvSpPr>
          <p:cNvPr id="10" name="Google Shape;10;p2"/>
          <p:cNvSpPr/>
          <p:nvPr/>
        </p:nvSpPr>
        <p:spPr>
          <a:xfrm>
            <a:off x="0" y="0"/>
            <a:ext cx="43891200" cy="329184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 name="Google Shape;11;p2"/>
          <p:cNvSpPr/>
          <p:nvPr/>
        </p:nvSpPr>
        <p:spPr>
          <a:xfrm>
            <a:off x="114903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 name="Google Shape;12;p2"/>
          <p:cNvSpPr/>
          <p:nvPr/>
        </p:nvSpPr>
        <p:spPr>
          <a:xfrm>
            <a:off x="222726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 name="Google Shape;13;p2"/>
          <p:cNvSpPr/>
          <p:nvPr/>
        </p:nvSpPr>
        <p:spPr>
          <a:xfrm>
            <a:off x="33078738"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 name="Google Shape;14;p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marR="0" lvl="0"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2pPr>
            <a:lvl3pPr marR="0" lvl="2"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3pPr>
            <a:lvl4pPr marR="0" lvl="3"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4pPr>
            <a:lvl5pPr marR="0" lvl="4"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5pPr>
            <a:lvl6pPr marR="0" lvl="5"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6pPr>
            <a:lvl7pPr marR="0" lvl="6"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7pPr>
            <a:lvl8pPr marR="0" lvl="7"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8pPr>
            <a:lvl9pPr marR="0" lvl="8"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9pPr>
          </a:lstStyle>
          <a:p>
            <a:endParaRPr/>
          </a:p>
        </p:txBody>
      </p:sp>
      <p:sp>
        <p:nvSpPr>
          <p:cNvPr id="15" name="Google Shape;15;p2"/>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marR="0" lvl="0"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3pPr>
            <a:lvl4pPr marL="1828800" marR="0" lvl="3"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4pPr>
            <a:lvl5pPr marL="2286000" marR="0" lvl="4"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5pPr>
            <a:lvl6pPr marL="2743200" marR="0" lvl="5"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6pPr>
            <a:lvl7pPr marL="3200400" marR="0" lvl="6"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7pPr>
            <a:lvl8pPr marL="3657600" marR="0" lvl="7"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8pPr>
            <a:lvl9pPr marL="4114800" marR="0" lvl="8"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eg"/><Relationship Id="rId13" Type="http://schemas.openxmlformats.org/officeDocument/2006/relationships/image" Target="../media/image10.png"/><Relationship Id="rId3" Type="http://schemas.openxmlformats.org/officeDocument/2006/relationships/image" Target="../media/image1.jpg"/><Relationship Id="rId7" Type="http://schemas.openxmlformats.org/officeDocument/2006/relationships/image" Target="../media/image4.jpe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g"/><Relationship Id="rId11" Type="http://schemas.openxmlformats.org/officeDocument/2006/relationships/image" Target="../media/image8.png"/><Relationship Id="rId5" Type="http://schemas.openxmlformats.org/officeDocument/2006/relationships/image" Target="../media/image2.jpeg"/><Relationship Id="rId10" Type="http://schemas.openxmlformats.org/officeDocument/2006/relationships/image" Target="../media/image7.png"/><Relationship Id="rId4" Type="http://schemas.openxmlformats.org/officeDocument/2006/relationships/hyperlink" Target="mailto:Victor.Govindaswamy@cuchicago.edu" TargetMode="External"/><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Shape 71"/>
        <p:cNvGrpSpPr/>
        <p:nvPr/>
      </p:nvGrpSpPr>
      <p:grpSpPr>
        <a:xfrm>
          <a:off x="0" y="0"/>
          <a:ext cx="0" cy="0"/>
          <a:chOff x="0" y="0"/>
          <a:chExt cx="0" cy="0"/>
        </a:xfrm>
      </p:grpSpPr>
      <p:sp>
        <p:nvSpPr>
          <p:cNvPr id="73" name="Google Shape;73;p1"/>
          <p:cNvSpPr/>
          <p:nvPr/>
        </p:nvSpPr>
        <p:spPr>
          <a:xfrm>
            <a:off x="22281800" y="5635325"/>
            <a:ext cx="9982200" cy="579300"/>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Menu Functionality</a:t>
            </a:r>
            <a:endParaRPr sz="3600" i="0" u="none" strike="noStrike" cap="none" dirty="0">
              <a:solidFill>
                <a:srgbClr val="000000"/>
              </a:solidFill>
              <a:latin typeface="Garamond"/>
              <a:ea typeface="Garamond"/>
              <a:cs typeface="Garamond"/>
              <a:sym typeface="Garamond"/>
            </a:endParaRPr>
          </a:p>
        </p:txBody>
      </p:sp>
      <p:pic>
        <p:nvPicPr>
          <p:cNvPr id="74" name="Google Shape;74;p1"/>
          <p:cNvPicPr preferRelativeResize="0"/>
          <p:nvPr/>
        </p:nvPicPr>
        <p:blipFill rotWithShape="1">
          <a:blip r:embed="rId3">
            <a:alphaModFix/>
          </a:blip>
          <a:srcRect/>
          <a:stretch/>
        </p:blipFill>
        <p:spPr>
          <a:xfrm>
            <a:off x="37315153" y="621750"/>
            <a:ext cx="6083696" cy="3967800"/>
          </a:xfrm>
          <a:prstGeom prst="rect">
            <a:avLst/>
          </a:prstGeom>
          <a:noFill/>
          <a:ln>
            <a:noFill/>
          </a:ln>
        </p:spPr>
      </p:pic>
      <p:sp>
        <p:nvSpPr>
          <p:cNvPr id="75" name="Google Shape;75;p1"/>
          <p:cNvSpPr/>
          <p:nvPr/>
        </p:nvSpPr>
        <p:spPr>
          <a:xfrm>
            <a:off x="33061950" y="5635325"/>
            <a:ext cx="9982200" cy="579300"/>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Output </a:t>
            </a:r>
            <a:endParaRPr sz="3600" i="0" u="none" strike="noStrike" cap="none" dirty="0">
              <a:solidFill>
                <a:srgbClr val="000000"/>
              </a:solidFill>
              <a:latin typeface="Garamond"/>
              <a:ea typeface="Garamond"/>
              <a:cs typeface="Garamond"/>
              <a:sym typeface="Garamond"/>
            </a:endParaRPr>
          </a:p>
        </p:txBody>
      </p:sp>
      <p:sp>
        <p:nvSpPr>
          <p:cNvPr id="76" name="Google Shape;76;p1"/>
          <p:cNvSpPr txBox="1"/>
          <p:nvPr/>
        </p:nvSpPr>
        <p:spPr>
          <a:xfrm>
            <a:off x="696409" y="6277675"/>
            <a:ext cx="9982200" cy="23113979"/>
          </a:xfrm>
          <a:prstGeom prst="rect">
            <a:avLst/>
          </a:prstGeom>
          <a:noFill/>
          <a:ln>
            <a:noFill/>
          </a:ln>
        </p:spPr>
        <p:txBody>
          <a:bodyPr spcFirstLastPara="1" wrap="square" lIns="91425" tIns="45700" rIns="91425" bIns="45700" anchor="t" anchorCtr="0">
            <a:spAutoFit/>
          </a:bodyPr>
          <a:lstStyle/>
          <a:p>
            <a:r>
              <a:rPr lang="en-IN" sz="3400" dirty="0">
                <a:highlight>
                  <a:srgbClr val="FFFFFF"/>
                </a:highlight>
                <a:latin typeface="Garamond" panose="02020404030301010803" pitchFamily="18" charset="0"/>
              </a:rPr>
              <a:t>The following project presents an intelligent record management and retrieval system called </a:t>
            </a:r>
            <a:r>
              <a:rPr lang="en-IN" sz="3400" b="1" dirty="0">
                <a:highlight>
                  <a:srgbClr val="FFFFFF"/>
                </a:highlight>
                <a:latin typeface="Garamond" panose="02020404030301010803" pitchFamily="18" charset="0"/>
              </a:rPr>
              <a:t>“IntelliSearch – Intelligent Record-Search System Using Binary Search Trees.”</a:t>
            </a:r>
          </a:p>
          <a:p>
            <a:endParaRPr lang="en-IN" sz="3400" dirty="0">
              <a:highlight>
                <a:srgbClr val="FFFFFF"/>
              </a:highlight>
              <a:latin typeface="Garamond" panose="02020404030301010803" pitchFamily="18" charset="0"/>
            </a:endParaRPr>
          </a:p>
          <a:p>
            <a:r>
              <a:rPr lang="en-IN" sz="3400" dirty="0">
                <a:highlight>
                  <a:srgbClr val="FFFFFF"/>
                </a:highlight>
                <a:latin typeface="Garamond" panose="02020404030301010803" pitchFamily="18" charset="0"/>
              </a:rPr>
              <a:t>The system is designed as a menu-driven C++ application that enables efficient storage, retrieval, and organization of records using a Binary Search Tree (BST). It allows users to perform essential operations such as adding new records, searching for records using unique identifiers, deleting existing records, displaying all records in sorted order, identifying minimum and maximum record IDs, and counting the total number of records. The application demonstrates how hierarchical data organization can support efficient information retrieval in real-world software systems.</a:t>
            </a:r>
          </a:p>
          <a:p>
            <a:endParaRPr lang="en-IN" sz="3400" dirty="0">
              <a:highlight>
                <a:srgbClr val="FFFFFF"/>
              </a:highlight>
              <a:latin typeface="Garamond" panose="02020404030301010803" pitchFamily="18" charset="0"/>
            </a:endParaRPr>
          </a:p>
          <a:p>
            <a:r>
              <a:rPr lang="en-IN" sz="3400" dirty="0">
                <a:highlight>
                  <a:srgbClr val="FFFFFF"/>
                </a:highlight>
                <a:latin typeface="Garamond" panose="02020404030301010803" pitchFamily="18" charset="0"/>
              </a:rPr>
              <a:t>The project demonstrates the practical implementation of fundamental Data Structures and Algorithms concepts, including binary trees, nodes, pointers, dynamic memory allocation, and object-oriented programming principles. The BST organizes records according to their unique IDs, enabling systematic insertion, searching, and deletion. Its menu-driven interface and input validation provide a clear and user-friendly way to interact with the application while helping prevent invalid entries and duplicate record IDs.</a:t>
            </a:r>
          </a:p>
          <a:p>
            <a:r>
              <a:rPr lang="en-IN" sz="3400" dirty="0">
                <a:highlight>
                  <a:srgbClr val="FFFFFF"/>
                </a:highlight>
                <a:latin typeface="Garamond" panose="02020404030301010803" pitchFamily="18" charset="0"/>
              </a:rPr>
              <a:t>Furthermore, the system emphasizes efficient data organization and retrieval. Searching, insertion, and deletion can take an average of </a:t>
            </a:r>
            <a:r>
              <a:rPr lang="en-IN" sz="3400" b="1" dirty="0">
                <a:highlight>
                  <a:srgbClr val="FFFFFF"/>
                </a:highlight>
                <a:latin typeface="Garamond" panose="02020404030301010803" pitchFamily="18" charset="0"/>
              </a:rPr>
              <a:t>O(log n)</a:t>
            </a:r>
            <a:r>
              <a:rPr lang="en-IN" sz="3400" dirty="0">
                <a:highlight>
                  <a:srgbClr val="FFFFFF"/>
                </a:highlight>
                <a:latin typeface="Garamond" panose="02020404030301010803" pitchFamily="18" charset="0"/>
              </a:rPr>
              <a:t> time when the tree is reasonably balanced, while these operations may require </a:t>
            </a:r>
            <a:r>
              <a:rPr lang="en-IN" sz="3400" b="1" dirty="0">
                <a:highlight>
                  <a:srgbClr val="FFFFFF"/>
                </a:highlight>
                <a:latin typeface="Garamond" panose="02020404030301010803" pitchFamily="18" charset="0"/>
              </a:rPr>
              <a:t>O(n)</a:t>
            </a:r>
            <a:r>
              <a:rPr lang="en-IN" sz="3400" dirty="0">
                <a:highlight>
                  <a:srgbClr val="FFFFFF"/>
                </a:highlight>
                <a:latin typeface="Garamond" panose="02020404030301010803" pitchFamily="18" charset="0"/>
              </a:rPr>
              <a:t> time in the worst case when the tree becomes unbalanced. The project also explores real-world applications of tree-based data structures, including self-balancing red-black trees used in Linux kernel subsystems, demonstrating the importance of tree structures in practical computing environments.</a:t>
            </a:r>
          </a:p>
          <a:p>
            <a:r>
              <a:rPr lang="en-IN" sz="3400" dirty="0">
                <a:highlight>
                  <a:srgbClr val="FFFFFF"/>
                </a:highlight>
                <a:latin typeface="Garamond" panose="02020404030301010803" pitchFamily="18" charset="0"/>
              </a:rPr>
              <a:t>The project is designed with future scalability in mind, allowing potential integration with advanced technologies such as Artificial Intelligence (AI) for intelligent record classification and summarization, and cloud computing for remote data access and storage. These are proposed future enhancements rather than features implemented in the current application.</a:t>
            </a:r>
          </a:p>
        </p:txBody>
      </p:sp>
      <p:sp>
        <p:nvSpPr>
          <p:cNvPr id="77" name="Google Shape;77;p1"/>
          <p:cNvSpPr/>
          <p:nvPr/>
        </p:nvSpPr>
        <p:spPr>
          <a:xfrm>
            <a:off x="679173" y="28868434"/>
            <a:ext cx="9989127" cy="579300"/>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Technology Used</a:t>
            </a:r>
            <a:endParaRPr sz="3600" i="0" u="none" strike="noStrike" cap="none" dirty="0">
              <a:solidFill>
                <a:srgbClr val="000000"/>
              </a:solidFill>
              <a:latin typeface="Garamond"/>
              <a:ea typeface="Garamond"/>
              <a:cs typeface="Garamond"/>
              <a:sym typeface="Garamond"/>
            </a:endParaRPr>
          </a:p>
        </p:txBody>
      </p:sp>
      <p:sp>
        <p:nvSpPr>
          <p:cNvPr id="78" name="Google Shape;78;p1"/>
          <p:cNvSpPr txBox="1"/>
          <p:nvPr/>
        </p:nvSpPr>
        <p:spPr>
          <a:xfrm>
            <a:off x="6509400" y="184500"/>
            <a:ext cx="30872400" cy="4062610"/>
          </a:xfrm>
          <a:prstGeom prst="rect">
            <a:avLst/>
          </a:prstGeom>
          <a:noFill/>
          <a:ln>
            <a:noFill/>
          </a:ln>
        </p:spPr>
        <p:txBody>
          <a:bodyPr spcFirstLastPara="1" wrap="square" lIns="91425" tIns="45700" rIns="91425" bIns="45700" anchor="t" anchorCtr="0">
            <a:spAutoFit/>
          </a:bodyPr>
          <a:lstStyle/>
          <a:p>
            <a:pPr lvl="0" algn="ctr">
              <a:buSzPts val="5800"/>
            </a:pPr>
            <a:r>
              <a:rPr lang="en-US" sz="7200" b="1" dirty="0">
                <a:solidFill>
                  <a:srgbClr val="FFFFFF"/>
                </a:solidFill>
                <a:latin typeface="Garamond" panose="02020404030301010803" pitchFamily="18" charset="0"/>
              </a:rPr>
              <a:t>  IntelliSearch: Intelligent Record-Search System Using Binary Search Trees, </a:t>
            </a:r>
          </a:p>
          <a:p>
            <a:pPr marL="0" marR="0" lvl="0" indent="0" algn="ctr" rtl="0">
              <a:lnSpc>
                <a:spcPct val="100000"/>
              </a:lnSpc>
              <a:spcBef>
                <a:spcPts val="0"/>
              </a:spcBef>
              <a:spcAft>
                <a:spcPts val="0"/>
              </a:spcAft>
              <a:buClr>
                <a:srgbClr val="000000"/>
              </a:buClr>
              <a:buSzPts val="5800"/>
              <a:buFont typeface="Arial"/>
              <a:buNone/>
            </a:pPr>
            <a:r>
              <a:rPr lang="en-US" sz="6600" b="1" dirty="0">
                <a:solidFill>
                  <a:srgbClr val="FFFFFF"/>
                </a:solidFill>
                <a:latin typeface="Garamond" panose="02020404030301010803" pitchFamily="18" charset="0"/>
              </a:rPr>
              <a:t>NagaJayaMadhuPraveen (Praveen) Mahadeva</a:t>
            </a:r>
          </a:p>
          <a:p>
            <a:pPr marL="0" marR="0" lvl="0" indent="0" algn="ctr" rtl="0">
              <a:lnSpc>
                <a:spcPct val="100000"/>
              </a:lnSpc>
              <a:spcBef>
                <a:spcPts val="0"/>
              </a:spcBef>
              <a:spcAft>
                <a:spcPts val="0"/>
              </a:spcAft>
              <a:buClr>
                <a:srgbClr val="000000"/>
              </a:buClr>
              <a:buSzPts val="5800"/>
              <a:buFont typeface="Arial"/>
              <a:buNone/>
            </a:pPr>
            <a:endParaRPr sz="11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2400"/>
              </a:spcBef>
              <a:spcAft>
                <a:spcPts val="0"/>
              </a:spcAft>
              <a:buClr>
                <a:srgbClr val="000000"/>
              </a:buClr>
              <a:buSzPts val="4300"/>
              <a:buFont typeface="Arial"/>
              <a:buNone/>
            </a:pPr>
            <a:r>
              <a:rPr lang="en-US" sz="4300" b="1" i="0" u="none" strike="noStrike" cap="none" dirty="0">
                <a:solidFill>
                  <a:srgbClr val="FFFFFF"/>
                </a:solidFill>
                <a:latin typeface="Garamond" panose="02020404030301010803" pitchFamily="18" charset="0"/>
                <a:sym typeface="Arial"/>
              </a:rPr>
              <a:t>Faculty Advisor: Dr. Victor Govindaswamy</a:t>
            </a:r>
            <a:endParaRPr sz="9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1800"/>
              </a:spcBef>
              <a:spcAft>
                <a:spcPts val="0"/>
              </a:spcAft>
              <a:buClr>
                <a:srgbClr val="000000"/>
              </a:buClr>
              <a:buSzPts val="3100"/>
              <a:buFont typeface="Arial"/>
              <a:buNone/>
            </a:pPr>
            <a:r>
              <a:rPr lang="en-US" sz="3100" b="1" i="0" u="none" strike="noStrike" cap="none" dirty="0">
                <a:solidFill>
                  <a:srgbClr val="FFFFFF"/>
                </a:solidFill>
                <a:latin typeface="Garamond" panose="02020404030301010803" pitchFamily="18" charset="0"/>
                <a:sym typeface="Arial"/>
              </a:rPr>
              <a:t>Concordia University Chicago</a:t>
            </a:r>
            <a:endParaRPr sz="900" b="0" i="0" u="none" strike="noStrike" cap="none" dirty="0">
              <a:solidFill>
                <a:srgbClr val="000000"/>
              </a:solidFill>
              <a:latin typeface="Garamond" panose="02020404030301010803" pitchFamily="18" charset="0"/>
              <a:sym typeface="Arial"/>
            </a:endParaRPr>
          </a:p>
        </p:txBody>
      </p:sp>
      <p:sp>
        <p:nvSpPr>
          <p:cNvPr id="80" name="Google Shape;80;p1"/>
          <p:cNvSpPr txBox="1"/>
          <p:nvPr/>
        </p:nvSpPr>
        <p:spPr>
          <a:xfrm>
            <a:off x="33041729" y="6286419"/>
            <a:ext cx="9982200" cy="2708393"/>
          </a:xfrm>
          <a:prstGeom prst="rect">
            <a:avLst/>
          </a:prstGeom>
          <a:noFill/>
          <a:ln>
            <a:noFill/>
          </a:ln>
        </p:spPr>
        <p:txBody>
          <a:bodyPr spcFirstLastPara="1" wrap="square" lIns="91425" tIns="45700" rIns="91425" bIns="45700" anchor="t" anchorCtr="0">
            <a:spAutoFit/>
          </a:bodyPr>
          <a:lstStyle/>
          <a:p>
            <a:pPr>
              <a:buSzPts val="2900"/>
            </a:pPr>
            <a:r>
              <a:rPr lang="en-IN" sz="3400" dirty="0">
                <a:latin typeface="Garamond" panose="02020404030301010803" pitchFamily="18" charset="0"/>
              </a:rPr>
              <a:t>After processing the input, the system displays record information in a clear and organized format. Users can view all records in ascending order, search for specific records using unique IDs, and verify record details instantly. </a:t>
            </a:r>
          </a:p>
        </p:txBody>
      </p:sp>
      <p:sp>
        <p:nvSpPr>
          <p:cNvPr id="84" name="Google Shape;84;p1"/>
          <p:cNvSpPr/>
          <p:nvPr/>
        </p:nvSpPr>
        <p:spPr>
          <a:xfrm>
            <a:off x="33067453" y="25678785"/>
            <a:ext cx="9982200" cy="579300"/>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Contacts</a:t>
            </a:r>
            <a:endParaRPr sz="3600" i="0" u="none" strike="noStrike" cap="none" dirty="0">
              <a:solidFill>
                <a:srgbClr val="000000"/>
              </a:solidFill>
              <a:latin typeface="Garamond"/>
              <a:ea typeface="Garamond"/>
              <a:cs typeface="Garamond"/>
              <a:sym typeface="Garamond"/>
            </a:endParaRPr>
          </a:p>
        </p:txBody>
      </p:sp>
      <p:sp>
        <p:nvSpPr>
          <p:cNvPr id="94" name="Google Shape;94;p1"/>
          <p:cNvSpPr txBox="1"/>
          <p:nvPr/>
        </p:nvSpPr>
        <p:spPr>
          <a:xfrm>
            <a:off x="33134766" y="26452228"/>
            <a:ext cx="9749700" cy="4833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Bioinformatics And Technology Laboratory (BAT Lab)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 </a:t>
            </a:r>
            <a:r>
              <a:rPr lang="en-US" sz="2800" b="1" dirty="0">
                <a:solidFill>
                  <a:schemeClr val="dk1"/>
                </a:solidFill>
                <a:latin typeface="Garamond"/>
                <a:ea typeface="Garamond"/>
                <a:cs typeface="Garamond"/>
                <a:sym typeface="Garamond"/>
              </a:rPr>
              <a:t>Programming Application Implementation and Design (PAID)</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Computer Science Department (CSC@CUC)</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Member:</a:t>
            </a:r>
            <a:r>
              <a:rPr lang="en-US" sz="2800" i="0" u="none" strike="noStrike" cap="none" dirty="0">
                <a:solidFill>
                  <a:schemeClr val="dk1"/>
                </a:solidFill>
                <a:latin typeface="Garamond"/>
                <a:ea typeface="Garamond"/>
                <a:cs typeface="Garamond"/>
                <a:sym typeface="Garamond"/>
              </a:rPr>
              <a:t> </a:t>
            </a:r>
            <a:r>
              <a:rPr lang="en-US" sz="2800" dirty="0">
                <a:solidFill>
                  <a:schemeClr val="dk1"/>
                </a:solidFill>
                <a:latin typeface="Garamond"/>
                <a:ea typeface="Garamond"/>
                <a:cs typeface="Garamond"/>
                <a:sym typeface="Garamond"/>
              </a:rPr>
              <a:t>    NagaJayaMadhuPraveen </a:t>
            </a:r>
            <a:r>
              <a:rPr lang="en-US" sz="2800">
                <a:solidFill>
                  <a:schemeClr val="dk1"/>
                </a:solidFill>
                <a:latin typeface="Garamond"/>
                <a:ea typeface="Garamond"/>
                <a:cs typeface="Garamond"/>
                <a:sym typeface="Garamond"/>
              </a:rPr>
              <a:t>(Praveen) Mahadeva</a:t>
            </a:r>
            <a:endParaRPr sz="2800" i="0" u="none" strike="noStrike" cap="none" dirty="0">
              <a:solidFill>
                <a:srgbClr val="000000"/>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Advisor: 	</a:t>
            </a:r>
            <a:r>
              <a:rPr lang="en-US" sz="2800" i="0" u="none" strike="noStrike" cap="none" dirty="0">
                <a:solidFill>
                  <a:schemeClr val="dk1"/>
                </a:solidFill>
                <a:latin typeface="Garamond"/>
                <a:ea typeface="Garamond"/>
                <a:cs typeface="Garamond"/>
                <a:sym typeface="Garamond"/>
              </a:rPr>
              <a:t>Dr Visvasuresh (Victor) Govindaswamy</a:t>
            </a:r>
            <a:endParaRPr sz="2800" i="0" u="none" strike="noStrike" cap="none" dirty="0">
              <a:solidFill>
                <a:srgbClr val="000000"/>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Email:</a:t>
            </a:r>
            <a:r>
              <a:rPr lang="en-US" sz="2800" i="0" u="none" strike="noStrike" cap="none" dirty="0">
                <a:solidFill>
                  <a:schemeClr val="dk1"/>
                </a:solidFill>
                <a:latin typeface="Garamond"/>
                <a:ea typeface="Garamond"/>
                <a:cs typeface="Garamond"/>
                <a:sym typeface="Garamond"/>
              </a:rPr>
              <a:t> 	Victor.Govindaswamy@cuchicago.edu</a:t>
            </a:r>
            <a:r>
              <a:rPr lang="en-US" sz="2800" i="0" u="sng" strike="noStrike" cap="none" dirty="0">
                <a:solidFill>
                  <a:schemeClr val="hlink"/>
                </a:solidFill>
                <a:latin typeface="Garamond"/>
                <a:ea typeface="Garamond"/>
                <a:cs typeface="Garamond"/>
                <a:sym typeface="Garamond"/>
                <a:hlinkClick r:id="rId4"/>
              </a:rPr>
              <a:t>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Address:</a:t>
            </a:r>
            <a:r>
              <a:rPr lang="en-US" sz="2800" i="0" u="none" strike="noStrike" cap="none" dirty="0">
                <a:solidFill>
                  <a:schemeClr val="dk1"/>
                </a:solidFill>
                <a:latin typeface="Garamond"/>
                <a:ea typeface="Garamond"/>
                <a:cs typeface="Garamond"/>
                <a:sym typeface="Garamond"/>
              </a:rPr>
              <a:t> 	Concordia Chicago University</a:t>
            </a:r>
            <a:br>
              <a:rPr lang="en-US" sz="2800" i="0" u="none" strike="noStrike" cap="none" dirty="0">
                <a:solidFill>
                  <a:schemeClr val="dk1"/>
                </a:solidFill>
                <a:latin typeface="Garamond"/>
                <a:ea typeface="Garamond"/>
                <a:cs typeface="Garamond"/>
                <a:sym typeface="Garamond"/>
              </a:rPr>
            </a:br>
            <a:r>
              <a:rPr lang="en-US" sz="2800" i="0" u="none" strike="noStrike" cap="none" dirty="0">
                <a:solidFill>
                  <a:schemeClr val="dk1"/>
                </a:solidFill>
                <a:latin typeface="Garamond"/>
                <a:ea typeface="Garamond"/>
                <a:cs typeface="Garamond"/>
                <a:sym typeface="Garamond"/>
              </a:rPr>
              <a:t>	       	7400 Augusta Street</a:t>
            </a:r>
            <a:br>
              <a:rPr lang="en-US" sz="2800" i="0" u="none" strike="noStrike" cap="none" dirty="0">
                <a:solidFill>
                  <a:schemeClr val="dk1"/>
                </a:solidFill>
                <a:latin typeface="Garamond"/>
                <a:ea typeface="Garamond"/>
                <a:cs typeface="Garamond"/>
                <a:sym typeface="Garamond"/>
              </a:rPr>
            </a:br>
            <a:r>
              <a:rPr lang="en-US" sz="2800" i="0" u="none" strike="noStrike" cap="none" dirty="0">
                <a:solidFill>
                  <a:schemeClr val="dk1"/>
                </a:solidFill>
                <a:latin typeface="Garamond"/>
                <a:ea typeface="Garamond"/>
                <a:cs typeface="Garamond"/>
                <a:sym typeface="Garamond"/>
              </a:rPr>
              <a:t>		River Forest, IL, 6030</a:t>
            </a:r>
            <a:r>
              <a:rPr lang="en-US" sz="2800" dirty="0">
                <a:solidFill>
                  <a:schemeClr val="dk1"/>
                </a:solidFill>
                <a:latin typeface="Garamond"/>
                <a:ea typeface="Garamond"/>
                <a:cs typeface="Garamond"/>
                <a:sym typeface="Garamond"/>
              </a:rPr>
              <a:t>5</a:t>
            </a:r>
            <a:r>
              <a:rPr lang="en-US" sz="2800" i="0" u="none" strike="noStrike" cap="none" dirty="0">
                <a:solidFill>
                  <a:schemeClr val="dk1"/>
                </a:solidFill>
                <a:latin typeface="Garamond"/>
                <a:ea typeface="Garamond"/>
                <a:cs typeface="Garamond"/>
                <a:sym typeface="Garamond"/>
              </a:rPr>
              <a:t>-1499</a:t>
            </a:r>
            <a:endParaRPr sz="2800" i="0" u="none" strike="noStrike" cap="none" dirty="0">
              <a:solidFill>
                <a:srgbClr val="000000"/>
              </a:solidFill>
              <a:latin typeface="Garamond"/>
              <a:ea typeface="Garamond"/>
              <a:cs typeface="Garamond"/>
              <a:sym typeface="Garamond"/>
            </a:endParaRPr>
          </a:p>
        </p:txBody>
      </p:sp>
      <p:sp>
        <p:nvSpPr>
          <p:cNvPr id="95" name="Google Shape;95;p1"/>
          <p:cNvSpPr/>
          <p:nvPr/>
        </p:nvSpPr>
        <p:spPr>
          <a:xfrm>
            <a:off x="33071056" y="10961372"/>
            <a:ext cx="9973094" cy="579300"/>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Referense</a:t>
            </a:r>
            <a:endParaRPr sz="3600" i="0" u="none" strike="noStrike" cap="none" dirty="0">
              <a:solidFill>
                <a:srgbClr val="000000"/>
              </a:solidFill>
              <a:latin typeface="Garamond"/>
              <a:ea typeface="Garamond"/>
              <a:cs typeface="Garamond"/>
              <a:sym typeface="Garamond"/>
            </a:endParaRPr>
          </a:p>
        </p:txBody>
      </p:sp>
      <p:sp>
        <p:nvSpPr>
          <p:cNvPr id="96" name="Google Shape;96;p1"/>
          <p:cNvSpPr txBox="1"/>
          <p:nvPr/>
        </p:nvSpPr>
        <p:spPr>
          <a:xfrm>
            <a:off x="33041729" y="11753379"/>
            <a:ext cx="9982200" cy="14219237"/>
          </a:xfrm>
          <a:prstGeom prst="rect">
            <a:avLst/>
          </a:prstGeom>
          <a:noFill/>
          <a:ln>
            <a:noFill/>
          </a:ln>
        </p:spPr>
        <p:txBody>
          <a:bodyPr spcFirstLastPara="1" wrap="square" lIns="91425" tIns="45700" rIns="91425" bIns="45700" anchor="t" anchorCtr="0">
            <a:spAutoFit/>
          </a:bodyPr>
          <a:lstStyle/>
          <a:p>
            <a:r>
              <a:rPr lang="en-IN" sz="3400" b="1" dirty="0">
                <a:latin typeface="Garamond" panose="02020404030301010803" pitchFamily="18" charset="0"/>
              </a:rPr>
              <a:t>Efficient Record Management:</a:t>
            </a:r>
            <a:br>
              <a:rPr lang="en-IN" sz="3400" dirty="0">
                <a:latin typeface="Garamond" panose="02020404030301010803" pitchFamily="18" charset="0"/>
              </a:rPr>
            </a:br>
            <a:r>
              <a:rPr lang="en-IN" sz="3400" dirty="0">
                <a:latin typeface="Garamond" panose="02020404030301010803" pitchFamily="18" charset="0"/>
              </a:rPr>
              <a:t>IntelliSearch organizes records using a Binary Search Tree, enabling efficient insertion, searching, deletion, and retrieval through unique IDs.</a:t>
            </a:r>
          </a:p>
          <a:p>
            <a:endParaRPr lang="en-IN" sz="3400" dirty="0">
              <a:latin typeface="Garamond" panose="02020404030301010803" pitchFamily="18" charset="0"/>
            </a:endParaRPr>
          </a:p>
          <a:p>
            <a:r>
              <a:rPr lang="en-IN" sz="3400" b="1" dirty="0">
                <a:latin typeface="Garamond" panose="02020404030301010803" pitchFamily="18" charset="0"/>
              </a:rPr>
              <a:t>Simplicity and Ease of Use:</a:t>
            </a:r>
            <a:br>
              <a:rPr lang="en-IN" sz="3400" dirty="0">
                <a:latin typeface="Garamond" panose="02020404030301010803" pitchFamily="18" charset="0"/>
              </a:rPr>
            </a:br>
            <a:r>
              <a:rPr lang="en-IN" sz="3400" dirty="0">
                <a:latin typeface="Garamond" panose="02020404030301010803" pitchFamily="18" charset="0"/>
              </a:rPr>
              <a:t>The menu-driven interface allows users to navigate different options easily and perform record-management operations through clear instructions.</a:t>
            </a:r>
          </a:p>
          <a:p>
            <a:endParaRPr lang="en-IN" sz="3400" dirty="0">
              <a:latin typeface="Garamond" panose="02020404030301010803" pitchFamily="18" charset="0"/>
            </a:endParaRPr>
          </a:p>
          <a:p>
            <a:r>
              <a:rPr lang="en-IN" sz="3400" b="1" dirty="0">
                <a:latin typeface="Garamond" panose="02020404030301010803" pitchFamily="18" charset="0"/>
              </a:rPr>
              <a:t>Fast Record Searching:</a:t>
            </a:r>
            <a:br>
              <a:rPr lang="en-IN" sz="3400" dirty="0">
                <a:latin typeface="Garamond" panose="02020404030301010803" pitchFamily="18" charset="0"/>
              </a:rPr>
            </a:br>
            <a:r>
              <a:rPr lang="en-IN" sz="3400" dirty="0">
                <a:latin typeface="Garamond" panose="02020404030301010803" pitchFamily="18" charset="0"/>
              </a:rPr>
              <a:t>The BST structure organizes records by unique IDs, supporting efficient searching. Average-case search time can be O(log n) when the tree is reasonably balanced.</a:t>
            </a:r>
          </a:p>
          <a:p>
            <a:endParaRPr lang="en-IN" sz="3400" dirty="0">
              <a:latin typeface="Garamond" panose="02020404030301010803" pitchFamily="18" charset="0"/>
            </a:endParaRPr>
          </a:p>
          <a:p>
            <a:r>
              <a:rPr lang="en-IN" sz="3400" b="1" dirty="0">
                <a:latin typeface="Garamond" panose="02020404030301010803" pitchFamily="18" charset="0"/>
              </a:rPr>
              <a:t>Sorted Record Display:</a:t>
            </a:r>
            <a:br>
              <a:rPr lang="en-IN" sz="3400" dirty="0">
                <a:latin typeface="Garamond" panose="02020404030301010803" pitchFamily="18" charset="0"/>
              </a:rPr>
            </a:br>
            <a:r>
              <a:rPr lang="en-IN" sz="3400" dirty="0">
                <a:latin typeface="Garamond" panose="02020404030301010803" pitchFamily="18" charset="0"/>
              </a:rPr>
              <a:t>The system displays records in ascending order using in-order traversal, making information easier to review</a:t>
            </a:r>
          </a:p>
          <a:p>
            <a:endParaRPr lang="en-IN" sz="3400" dirty="0">
              <a:latin typeface="Garamond" panose="02020404030301010803" pitchFamily="18" charset="0"/>
            </a:endParaRPr>
          </a:p>
          <a:p>
            <a:r>
              <a:rPr lang="en-IN" sz="3400" b="1" dirty="0">
                <a:latin typeface="Garamond" panose="02020404030301010803" pitchFamily="18" charset="0"/>
              </a:rPr>
              <a:t>Structured Programming Approach:</a:t>
            </a:r>
            <a:br>
              <a:rPr lang="en-IN" sz="3400" dirty="0">
                <a:latin typeface="Garamond" panose="02020404030301010803" pitchFamily="18" charset="0"/>
              </a:rPr>
            </a:br>
            <a:r>
              <a:rPr lang="en-IN" sz="3400" dirty="0">
                <a:latin typeface="Garamond" panose="02020404030301010803" pitchFamily="18" charset="0"/>
              </a:rPr>
              <a:t>The application demonstrates essential C++ concepts, including pointers, dynamic memory allocation, classes.</a:t>
            </a:r>
          </a:p>
          <a:p>
            <a:endParaRPr lang="en-IN" sz="3400" dirty="0">
              <a:latin typeface="Garamond" panose="02020404030301010803" pitchFamily="18" charset="0"/>
            </a:endParaRPr>
          </a:p>
          <a:p>
            <a:r>
              <a:rPr lang="en-IN" sz="3400" b="1" dirty="0">
                <a:latin typeface="Garamond" panose="02020404030301010803" pitchFamily="18" charset="0"/>
              </a:rPr>
              <a:t>Modular Design:</a:t>
            </a:r>
            <a:br>
              <a:rPr lang="en-IN" sz="3400" dirty="0">
                <a:latin typeface="Garamond" panose="02020404030301010803" pitchFamily="18" charset="0"/>
              </a:rPr>
            </a:br>
            <a:r>
              <a:rPr lang="en-IN" sz="3400" dirty="0">
                <a:latin typeface="Garamond" panose="02020404030301010803" pitchFamily="18" charset="0"/>
              </a:rPr>
              <a:t>Separate classes and functions divide the program into manageable components, making the application .</a:t>
            </a:r>
          </a:p>
        </p:txBody>
      </p:sp>
      <p:sp>
        <p:nvSpPr>
          <p:cNvPr id="124" name="Google Shape;124;p1"/>
          <p:cNvSpPr/>
          <p:nvPr/>
        </p:nvSpPr>
        <p:spPr>
          <a:xfrm>
            <a:off x="686100" y="5638875"/>
            <a:ext cx="9982200" cy="579300"/>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Abstract</a:t>
            </a:r>
            <a:endParaRPr sz="3600" i="0" u="none" strike="noStrike" cap="none" dirty="0">
              <a:solidFill>
                <a:srgbClr val="000000"/>
              </a:solidFill>
              <a:latin typeface="Garamond"/>
              <a:ea typeface="Garamond"/>
              <a:cs typeface="Garamond"/>
              <a:sym typeface="Garamond"/>
            </a:endParaRPr>
          </a:p>
        </p:txBody>
      </p:sp>
      <p:pic>
        <p:nvPicPr>
          <p:cNvPr id="2" name="Picture 1" descr="CSCUCV1Big.jpg">
            <a:extLst>
              <a:ext uri="{FF2B5EF4-FFF2-40B4-BE49-F238E27FC236}">
                <a16:creationId xmlns:a16="http://schemas.microsoft.com/office/drawing/2014/main" id="{187345C8-ABC2-0BF8-5280-A751B488195A}"/>
              </a:ext>
            </a:extLst>
          </p:cNvPr>
          <p:cNvPicPr>
            <a:picLocks noChangeAspect="1"/>
          </p:cNvPicPr>
          <p:nvPr/>
        </p:nvPicPr>
        <p:blipFill>
          <a:blip r:embed="rId5" cstate="print"/>
          <a:stretch>
            <a:fillRect/>
          </a:stretch>
        </p:blipFill>
        <p:spPr>
          <a:xfrm>
            <a:off x="11490325" y="1771965"/>
            <a:ext cx="1849898" cy="2390475"/>
          </a:xfrm>
          <a:prstGeom prst="rect">
            <a:avLst/>
          </a:prstGeom>
        </p:spPr>
      </p:pic>
      <p:pic>
        <p:nvPicPr>
          <p:cNvPr id="3" name="Picture 2" descr="CSCUCV1Big.jpg">
            <a:extLst>
              <a:ext uri="{FF2B5EF4-FFF2-40B4-BE49-F238E27FC236}">
                <a16:creationId xmlns:a16="http://schemas.microsoft.com/office/drawing/2014/main" id="{10133330-F11B-8F00-F989-4A0B9CEB07DB}"/>
              </a:ext>
            </a:extLst>
          </p:cNvPr>
          <p:cNvPicPr>
            <a:picLocks noChangeAspect="1"/>
          </p:cNvPicPr>
          <p:nvPr/>
        </p:nvPicPr>
        <p:blipFill>
          <a:blip r:embed="rId5" cstate="print"/>
          <a:stretch>
            <a:fillRect/>
          </a:stretch>
        </p:blipFill>
        <p:spPr>
          <a:xfrm>
            <a:off x="30409690" y="1771965"/>
            <a:ext cx="1849898" cy="2390475"/>
          </a:xfrm>
          <a:prstGeom prst="rect">
            <a:avLst/>
          </a:prstGeom>
        </p:spPr>
      </p:pic>
      <p:sp>
        <p:nvSpPr>
          <p:cNvPr id="4" name="Google Shape;82;p1">
            <a:extLst>
              <a:ext uri="{FF2B5EF4-FFF2-40B4-BE49-F238E27FC236}">
                <a16:creationId xmlns:a16="http://schemas.microsoft.com/office/drawing/2014/main" id="{A7067EA1-8ACC-9755-78B2-6033F072FAEC}"/>
              </a:ext>
            </a:extLst>
          </p:cNvPr>
          <p:cNvSpPr/>
          <p:nvPr/>
        </p:nvSpPr>
        <p:spPr>
          <a:xfrm>
            <a:off x="11487550" y="5638875"/>
            <a:ext cx="9982200" cy="579300"/>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Further Future Work</a:t>
            </a:r>
            <a:endParaRPr sz="3600" i="0" u="none" strike="noStrike" cap="none" dirty="0">
              <a:solidFill>
                <a:srgbClr val="000000"/>
              </a:solidFill>
              <a:latin typeface="Garamond"/>
              <a:ea typeface="Garamond"/>
              <a:cs typeface="Garamond"/>
              <a:sym typeface="Garamond"/>
            </a:endParaRPr>
          </a:p>
        </p:txBody>
      </p:sp>
      <p:pic>
        <p:nvPicPr>
          <p:cNvPr id="7" name="Picture 6">
            <a:extLst>
              <a:ext uri="{FF2B5EF4-FFF2-40B4-BE49-F238E27FC236}">
                <a16:creationId xmlns:a16="http://schemas.microsoft.com/office/drawing/2014/main" id="{EECC9702-D1B4-6FE8-DEC6-96D1C70F7555}"/>
              </a:ext>
            </a:extLst>
          </p:cNvPr>
          <p:cNvPicPr>
            <a:picLocks noChangeAspect="1"/>
          </p:cNvPicPr>
          <p:nvPr/>
        </p:nvPicPr>
        <p:blipFill>
          <a:blip r:embed="rId6"/>
          <a:stretch>
            <a:fillRect/>
          </a:stretch>
        </p:blipFill>
        <p:spPr>
          <a:xfrm>
            <a:off x="1" y="1"/>
            <a:ext cx="6762306" cy="5249438"/>
          </a:xfrm>
          <a:prstGeom prst="rect">
            <a:avLst/>
          </a:prstGeom>
        </p:spPr>
      </p:pic>
      <p:sp>
        <p:nvSpPr>
          <p:cNvPr id="15" name="Google Shape;82;p1">
            <a:extLst>
              <a:ext uri="{FF2B5EF4-FFF2-40B4-BE49-F238E27FC236}">
                <a16:creationId xmlns:a16="http://schemas.microsoft.com/office/drawing/2014/main" id="{BA67FBAA-A89F-5C19-B1B1-AF43D4A640A3}"/>
              </a:ext>
            </a:extLst>
          </p:cNvPr>
          <p:cNvSpPr/>
          <p:nvPr/>
        </p:nvSpPr>
        <p:spPr>
          <a:xfrm>
            <a:off x="11487550" y="20056825"/>
            <a:ext cx="9982200" cy="664528"/>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Linux Environment </a:t>
            </a:r>
            <a:endParaRPr sz="3600" i="0" u="none" strike="noStrike" cap="none" dirty="0">
              <a:solidFill>
                <a:srgbClr val="000000"/>
              </a:solidFill>
              <a:latin typeface="Garamond"/>
              <a:ea typeface="Garamond"/>
              <a:cs typeface="Garamond"/>
              <a:sym typeface="Garamond"/>
            </a:endParaRPr>
          </a:p>
        </p:txBody>
      </p:sp>
      <p:pic>
        <p:nvPicPr>
          <p:cNvPr id="1034" name="Picture 10" descr="C++ color icon in PNG, SVG">
            <a:extLst>
              <a:ext uri="{FF2B5EF4-FFF2-40B4-BE49-F238E27FC236}">
                <a16:creationId xmlns:a16="http://schemas.microsoft.com/office/drawing/2014/main" id="{387DCA53-0630-9636-BFB7-680805E89DD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65017" y="30072075"/>
            <a:ext cx="1444984" cy="136226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73;p1">
            <a:extLst>
              <a:ext uri="{FF2B5EF4-FFF2-40B4-BE49-F238E27FC236}">
                <a16:creationId xmlns:a16="http://schemas.microsoft.com/office/drawing/2014/main" id="{700F248D-5F63-A4ED-7720-7ADA205042A1}"/>
              </a:ext>
            </a:extLst>
          </p:cNvPr>
          <p:cNvSpPr/>
          <p:nvPr/>
        </p:nvSpPr>
        <p:spPr>
          <a:xfrm>
            <a:off x="11487550" y="15497077"/>
            <a:ext cx="9982200" cy="579300"/>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Coding Technology for MedTrack</a:t>
            </a:r>
            <a:endParaRPr sz="3600" i="0" u="none" strike="noStrike" cap="none" dirty="0">
              <a:solidFill>
                <a:srgbClr val="000000"/>
              </a:solidFill>
              <a:latin typeface="Garamond"/>
              <a:ea typeface="Garamond"/>
              <a:cs typeface="Garamond"/>
              <a:sym typeface="Garamond"/>
            </a:endParaRPr>
          </a:p>
        </p:txBody>
      </p:sp>
      <p:sp>
        <p:nvSpPr>
          <p:cNvPr id="12" name="Google Shape;80;p1">
            <a:extLst>
              <a:ext uri="{FF2B5EF4-FFF2-40B4-BE49-F238E27FC236}">
                <a16:creationId xmlns:a16="http://schemas.microsoft.com/office/drawing/2014/main" id="{D160E3D1-004B-3DF4-0D71-A66BFFD43553}"/>
              </a:ext>
            </a:extLst>
          </p:cNvPr>
          <p:cNvSpPr txBox="1"/>
          <p:nvPr/>
        </p:nvSpPr>
        <p:spPr>
          <a:xfrm>
            <a:off x="11456338" y="6249533"/>
            <a:ext cx="9982200" cy="8987035"/>
          </a:xfrm>
          <a:prstGeom prst="rect">
            <a:avLst/>
          </a:prstGeom>
          <a:noFill/>
          <a:ln>
            <a:noFill/>
          </a:ln>
        </p:spPr>
        <p:txBody>
          <a:bodyPr spcFirstLastPara="1" wrap="square" lIns="91425" tIns="45700" rIns="91425" bIns="45700" anchor="t" anchorCtr="0">
            <a:spAutoFit/>
          </a:bodyPr>
          <a:lstStyle/>
          <a:p>
            <a:r>
              <a:rPr lang="en-IN" sz="3400" b="1" dirty="0">
                <a:latin typeface="Garamond" panose="02020404030301010803" pitchFamily="18" charset="0"/>
              </a:rPr>
              <a:t>Artificial Intelligence Integration</a:t>
            </a:r>
            <a:br>
              <a:rPr lang="en-IN" sz="3400" dirty="0">
                <a:latin typeface="Garamond" panose="02020404030301010803" pitchFamily="18" charset="0"/>
              </a:rPr>
            </a:br>
            <a:r>
              <a:rPr lang="en-IN" sz="3400" dirty="0">
                <a:latin typeface="Garamond" panose="02020404030301010803" pitchFamily="18" charset="0"/>
              </a:rPr>
              <a:t>Future improvements will include Artificial Intelligence (AI) integration to support intelligent record classification.</a:t>
            </a:r>
          </a:p>
          <a:p>
            <a:endParaRPr lang="en-IN" sz="3400" dirty="0">
              <a:latin typeface="Garamond" panose="02020404030301010803" pitchFamily="18" charset="0"/>
            </a:endParaRPr>
          </a:p>
          <a:p>
            <a:r>
              <a:rPr lang="en-IN" sz="3400" b="1" dirty="0">
                <a:latin typeface="Garamond" panose="02020404030301010803" pitchFamily="18" charset="0"/>
              </a:rPr>
              <a:t>Self-Balancing Binary Search Trees</a:t>
            </a:r>
            <a:br>
              <a:rPr lang="en-IN" sz="3400" dirty="0">
                <a:latin typeface="Garamond" panose="02020404030301010803" pitchFamily="18" charset="0"/>
              </a:rPr>
            </a:br>
            <a:r>
              <a:rPr lang="en-IN" sz="3400" dirty="0">
                <a:latin typeface="Garamond" panose="02020404030301010803" pitchFamily="18" charset="0"/>
              </a:rPr>
              <a:t>The system can be enhanced by implementing self-balancing tree structures, such as AVL trees or red-black trees, to maintain efficient search, insertion.</a:t>
            </a:r>
          </a:p>
          <a:p>
            <a:endParaRPr lang="en-IN" sz="3400" dirty="0">
              <a:latin typeface="Garamond" panose="02020404030301010803" pitchFamily="18" charset="0"/>
            </a:endParaRPr>
          </a:p>
          <a:p>
            <a:r>
              <a:rPr lang="en-IN" sz="3400" b="1" dirty="0">
                <a:latin typeface="Garamond" panose="02020404030301010803" pitchFamily="18" charset="0"/>
              </a:rPr>
              <a:t>Cloud and Database Integration</a:t>
            </a:r>
            <a:br>
              <a:rPr lang="en-IN" sz="3400" dirty="0">
                <a:latin typeface="Garamond" panose="02020404030301010803" pitchFamily="18" charset="0"/>
              </a:rPr>
            </a:br>
            <a:r>
              <a:rPr lang="en-IN" sz="3400" dirty="0">
                <a:latin typeface="Garamond" panose="02020404030301010803" pitchFamily="18" charset="0"/>
              </a:rPr>
              <a:t>Future improvements will include integration with cloud-based databases to support persistent record storage, secure data access, and synchronization.</a:t>
            </a:r>
          </a:p>
          <a:p>
            <a:endParaRPr lang="en-IN" sz="3400" dirty="0">
              <a:latin typeface="Garamond" panose="02020404030301010803" pitchFamily="18" charset="0"/>
            </a:endParaRPr>
          </a:p>
          <a:p>
            <a:r>
              <a:rPr lang="en-IN" sz="3400" b="1" dirty="0">
                <a:latin typeface="Garamond" panose="02020404030301010803" pitchFamily="18" charset="0"/>
              </a:rPr>
              <a:t>Security and Access Control</a:t>
            </a:r>
            <a:br>
              <a:rPr lang="en-IN" sz="3400" dirty="0">
                <a:latin typeface="Garamond" panose="02020404030301010803" pitchFamily="18" charset="0"/>
              </a:rPr>
            </a:br>
            <a:r>
              <a:rPr lang="en-IN" sz="3400" dirty="0">
                <a:latin typeface="Garamond" panose="02020404030301010803" pitchFamily="18" charset="0"/>
              </a:rPr>
              <a:t>The system can be enhanced with user authentication, role-based access controls, and data encryption.</a:t>
            </a:r>
          </a:p>
        </p:txBody>
      </p:sp>
      <p:sp>
        <p:nvSpPr>
          <p:cNvPr id="13" name="Google Shape;80;p1">
            <a:extLst>
              <a:ext uri="{FF2B5EF4-FFF2-40B4-BE49-F238E27FC236}">
                <a16:creationId xmlns:a16="http://schemas.microsoft.com/office/drawing/2014/main" id="{C6D4CF78-04BB-1F64-6F25-E6EB99244407}"/>
              </a:ext>
            </a:extLst>
          </p:cNvPr>
          <p:cNvSpPr txBox="1"/>
          <p:nvPr/>
        </p:nvSpPr>
        <p:spPr>
          <a:xfrm>
            <a:off x="11456338" y="16139439"/>
            <a:ext cx="9982200" cy="3754834"/>
          </a:xfrm>
          <a:prstGeom prst="rect">
            <a:avLst/>
          </a:prstGeom>
          <a:noFill/>
          <a:ln>
            <a:noFill/>
          </a:ln>
        </p:spPr>
        <p:txBody>
          <a:bodyPr spcFirstLastPara="1" wrap="square" lIns="91425" tIns="45700" rIns="91425" bIns="45700" anchor="t" anchorCtr="0">
            <a:spAutoFit/>
          </a:bodyPr>
          <a:lstStyle/>
          <a:p>
            <a:pPr lvl="0">
              <a:buSzPts val="2900"/>
            </a:pPr>
            <a:r>
              <a:rPr lang="en-US" sz="3400" b="1" dirty="0">
                <a:latin typeface="Garamond" panose="02020404030301010803" pitchFamily="18" charset="0"/>
              </a:rPr>
              <a:t>C++ (Programming Language):</a:t>
            </a:r>
            <a:br>
              <a:rPr lang="en-US" sz="3400" dirty="0">
                <a:latin typeface="Garamond" panose="02020404030301010803" pitchFamily="18" charset="0"/>
              </a:rPr>
            </a:br>
            <a:r>
              <a:rPr lang="en-US" sz="3400" dirty="0">
                <a:latin typeface="Garamond" panose="02020404030301010803" pitchFamily="18" charset="0"/>
              </a:rPr>
              <a:t>C++ is an object-oriented programming language that also supports procedural programming. It allows developers to implement core Data Structures concepts such as pointers, dynamic memory allocation, and C-style strings. These features make it suitable for building efficient and structured applications like MedTrack.</a:t>
            </a:r>
            <a:endParaRPr sz="3400" i="0" u="none" strike="noStrike" cap="none" dirty="0">
              <a:solidFill>
                <a:schemeClr val="dk1"/>
              </a:solidFill>
              <a:latin typeface="Garamond" panose="02020404030301010803" pitchFamily="18" charset="0"/>
              <a:ea typeface="Garamond"/>
              <a:cs typeface="Garamond"/>
              <a:sym typeface="Garamond"/>
            </a:endParaRPr>
          </a:p>
        </p:txBody>
      </p:sp>
      <p:sp>
        <p:nvSpPr>
          <p:cNvPr id="16" name="Google Shape;80;p1">
            <a:extLst>
              <a:ext uri="{FF2B5EF4-FFF2-40B4-BE49-F238E27FC236}">
                <a16:creationId xmlns:a16="http://schemas.microsoft.com/office/drawing/2014/main" id="{F8239597-ABBA-A47E-AF96-1E28BAFB93B9}"/>
              </a:ext>
            </a:extLst>
          </p:cNvPr>
          <p:cNvSpPr txBox="1"/>
          <p:nvPr/>
        </p:nvSpPr>
        <p:spPr>
          <a:xfrm>
            <a:off x="11487550" y="20805849"/>
            <a:ext cx="9982200" cy="3754834"/>
          </a:xfrm>
          <a:prstGeom prst="rect">
            <a:avLst/>
          </a:prstGeom>
          <a:noFill/>
          <a:ln>
            <a:noFill/>
          </a:ln>
        </p:spPr>
        <p:txBody>
          <a:bodyPr spcFirstLastPara="1" wrap="square" lIns="91425" tIns="45700" rIns="91425" bIns="45700" anchor="t" anchorCtr="0">
            <a:spAutoFit/>
          </a:bodyPr>
          <a:lstStyle/>
          <a:p>
            <a:pPr lvl="0">
              <a:buSzPts val="2900"/>
            </a:pPr>
            <a:r>
              <a:rPr lang="en-US" sz="3400" b="1" dirty="0">
                <a:latin typeface="Garamond" panose="02020404030301010803" pitchFamily="18" charset="0"/>
              </a:rPr>
              <a:t>Linux Environment:</a:t>
            </a:r>
            <a:br>
              <a:rPr lang="en-US" sz="3400" dirty="0">
                <a:latin typeface="Garamond" panose="02020404030301010803" pitchFamily="18" charset="0"/>
              </a:rPr>
            </a:br>
            <a:r>
              <a:rPr lang="en-US" sz="3400" dirty="0">
                <a:latin typeface="Garamond" panose="02020404030301010803" pitchFamily="18" charset="0"/>
              </a:rPr>
              <a:t>The MedTrack application is designed to run on a Linux system, which provides a stable and open-source environment for development. Tools like the GNU Compiler Collection (g++) are used to compile and execute the program, making it efficient for building and testing C++ applications.</a:t>
            </a:r>
            <a:endParaRPr sz="3400" i="0" u="none" strike="noStrike" cap="none" dirty="0">
              <a:solidFill>
                <a:schemeClr val="dk1"/>
              </a:solidFill>
              <a:latin typeface="Garamond" panose="02020404030301010803" pitchFamily="18" charset="0"/>
              <a:ea typeface="Garamond"/>
              <a:cs typeface="Garamond"/>
              <a:sym typeface="Garamond"/>
            </a:endParaRPr>
          </a:p>
        </p:txBody>
      </p:sp>
      <p:sp>
        <p:nvSpPr>
          <p:cNvPr id="17" name="Google Shape;82;p1">
            <a:extLst>
              <a:ext uri="{FF2B5EF4-FFF2-40B4-BE49-F238E27FC236}">
                <a16:creationId xmlns:a16="http://schemas.microsoft.com/office/drawing/2014/main" id="{D3F8B2D2-78C9-2D5E-BA9D-EB3DD2871628}"/>
              </a:ext>
            </a:extLst>
          </p:cNvPr>
          <p:cNvSpPr/>
          <p:nvPr/>
        </p:nvSpPr>
        <p:spPr>
          <a:xfrm>
            <a:off x="11487550" y="24690751"/>
            <a:ext cx="9982200" cy="664528"/>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Object-Oriented Programming (OOP)</a:t>
            </a:r>
            <a:endParaRPr sz="3600" i="0" u="none" strike="noStrike" cap="none" dirty="0">
              <a:solidFill>
                <a:srgbClr val="000000"/>
              </a:solidFill>
              <a:latin typeface="Garamond"/>
              <a:ea typeface="Garamond"/>
              <a:cs typeface="Garamond"/>
              <a:sym typeface="Garamond"/>
            </a:endParaRPr>
          </a:p>
        </p:txBody>
      </p:sp>
      <p:sp>
        <p:nvSpPr>
          <p:cNvPr id="18" name="Google Shape;80;p1">
            <a:extLst>
              <a:ext uri="{FF2B5EF4-FFF2-40B4-BE49-F238E27FC236}">
                <a16:creationId xmlns:a16="http://schemas.microsoft.com/office/drawing/2014/main" id="{3B90F417-DB7E-5A40-4D44-07A85200665C}"/>
              </a:ext>
            </a:extLst>
          </p:cNvPr>
          <p:cNvSpPr txBox="1"/>
          <p:nvPr/>
        </p:nvSpPr>
        <p:spPr>
          <a:xfrm>
            <a:off x="11487550" y="25485347"/>
            <a:ext cx="9982200" cy="6894155"/>
          </a:xfrm>
          <a:prstGeom prst="rect">
            <a:avLst/>
          </a:prstGeom>
          <a:noFill/>
          <a:ln>
            <a:noFill/>
          </a:ln>
        </p:spPr>
        <p:txBody>
          <a:bodyPr spcFirstLastPara="1" wrap="square" lIns="91425" tIns="45700" rIns="91425" bIns="45700" anchor="t" anchorCtr="0">
            <a:spAutoFit/>
          </a:bodyPr>
          <a:lstStyle/>
          <a:p>
            <a:r>
              <a:rPr lang="en-IN" sz="3400" b="1" dirty="0">
                <a:latin typeface="Garamond" panose="02020404030301010803" pitchFamily="18" charset="0"/>
              </a:rPr>
              <a:t>Object-Oriented Programming (OOP):</a:t>
            </a:r>
            <a:br>
              <a:rPr lang="en-IN" sz="3400" dirty="0">
                <a:latin typeface="Garamond" panose="02020404030301010803" pitchFamily="18" charset="0"/>
              </a:rPr>
            </a:br>
            <a:r>
              <a:rPr lang="en-IN" sz="3400" dirty="0">
                <a:latin typeface="Garamond" panose="02020404030301010803" pitchFamily="18" charset="0"/>
              </a:rPr>
              <a:t>The system is developed using object-oriented principles such as encapsulation, modularity, and abstraction. Classes such as </a:t>
            </a:r>
            <a:r>
              <a:rPr lang="en-IN" sz="3400" dirty="0" err="1">
                <a:latin typeface="Garamond" panose="02020404030301010803" pitchFamily="18" charset="0"/>
              </a:rPr>
              <a:t>RecordNode</a:t>
            </a:r>
            <a:r>
              <a:rPr lang="en-IN" sz="3400" dirty="0">
                <a:latin typeface="Garamond" panose="02020404030301010803" pitchFamily="18" charset="0"/>
              </a:rPr>
              <a:t> and BinarySearchTree organize record data and related operations systematically. The </a:t>
            </a:r>
            <a:r>
              <a:rPr lang="en-IN" sz="3400" dirty="0" err="1">
                <a:latin typeface="Garamond" panose="02020404030301010803" pitchFamily="18" charset="0"/>
              </a:rPr>
              <a:t>RecordNode</a:t>
            </a:r>
            <a:r>
              <a:rPr lang="en-IN" sz="3400" dirty="0">
                <a:latin typeface="Garamond" panose="02020404030301010803" pitchFamily="18" charset="0"/>
              </a:rPr>
              <a:t> class stores each record's unique ID, description, and pointers to its left and right child nodes, while the BinarySearchTree class manages </a:t>
            </a:r>
            <a:r>
              <a:rPr lang="en-IN" sz="3400">
                <a:latin typeface="Garamond" panose="02020404030301010803" pitchFamily="18" charset="0"/>
              </a:rPr>
              <a:t>all operations.</a:t>
            </a:r>
            <a:endParaRPr lang="en-IN" sz="3400" dirty="0">
              <a:latin typeface="Garamond" panose="02020404030301010803" pitchFamily="18" charset="0"/>
            </a:endParaRPr>
          </a:p>
          <a:p>
            <a:endParaRPr lang="en-IN" sz="3400" dirty="0">
              <a:latin typeface="Garamond" panose="02020404030301010803" pitchFamily="18" charset="0"/>
            </a:endParaRPr>
          </a:p>
          <a:p>
            <a:r>
              <a:rPr lang="en-IN" sz="3400" dirty="0">
                <a:latin typeface="Garamond" panose="02020404030301010803" pitchFamily="18" charset="0"/>
              </a:rPr>
              <a:t>OOP helps divide the program into manageable components, making the code easier to understand, maintain, and extend. By separating individual record.</a:t>
            </a:r>
          </a:p>
          <a:p>
            <a:endParaRPr lang="en-US" sz="3400" dirty="0">
              <a:latin typeface="Garamond" panose="02020404030301010803" pitchFamily="18" charset="0"/>
            </a:endParaRPr>
          </a:p>
        </p:txBody>
      </p:sp>
      <p:sp>
        <p:nvSpPr>
          <p:cNvPr id="19" name="Google Shape;80;p1">
            <a:extLst>
              <a:ext uri="{FF2B5EF4-FFF2-40B4-BE49-F238E27FC236}">
                <a16:creationId xmlns:a16="http://schemas.microsoft.com/office/drawing/2014/main" id="{32A89C34-CBF0-8508-F537-9F156F80AA46}"/>
              </a:ext>
            </a:extLst>
          </p:cNvPr>
          <p:cNvSpPr txBox="1"/>
          <p:nvPr/>
        </p:nvSpPr>
        <p:spPr>
          <a:xfrm>
            <a:off x="22281800" y="6286419"/>
            <a:ext cx="9982200" cy="5324494"/>
          </a:xfrm>
          <a:prstGeom prst="rect">
            <a:avLst/>
          </a:prstGeom>
          <a:noFill/>
          <a:ln>
            <a:noFill/>
          </a:ln>
        </p:spPr>
        <p:txBody>
          <a:bodyPr spcFirstLastPara="1" wrap="square" lIns="91425" tIns="45700" rIns="91425" bIns="45700" anchor="t" anchorCtr="0">
            <a:spAutoFit/>
          </a:bodyPr>
          <a:lstStyle/>
          <a:p>
            <a:r>
              <a:rPr lang="en-IN" sz="3400" dirty="0">
                <a:latin typeface="Garamond" panose="02020404030301010803" pitchFamily="18" charset="0"/>
              </a:rPr>
              <a:t>After selecting an option from the menu, the application allows users to add new records, search for existing records using unique IDs, delete records, and display all stored records in ascending order. It also provides options to find the minimum and maximum record IDs and calculate the total number of records. Additionally, the system validates user input and displays appropriate messages for invalid entries, duplicate IDs, and records that cannot be found.</a:t>
            </a:r>
          </a:p>
          <a:p>
            <a:endParaRPr lang="en-IN" sz="3400" dirty="0">
              <a:latin typeface="Garamond" panose="02020404030301010803" pitchFamily="18" charset="0"/>
            </a:endParaRPr>
          </a:p>
        </p:txBody>
      </p:sp>
      <p:sp>
        <p:nvSpPr>
          <p:cNvPr id="46" name="Google Shape;73;p1">
            <a:extLst>
              <a:ext uri="{FF2B5EF4-FFF2-40B4-BE49-F238E27FC236}">
                <a16:creationId xmlns:a16="http://schemas.microsoft.com/office/drawing/2014/main" id="{E37B3EB8-13A2-6BE4-4C80-68DAF64D234B}"/>
              </a:ext>
            </a:extLst>
          </p:cNvPr>
          <p:cNvSpPr/>
          <p:nvPr/>
        </p:nvSpPr>
        <p:spPr>
          <a:xfrm>
            <a:off x="22285577" y="11229559"/>
            <a:ext cx="9982200" cy="579300"/>
          </a:xfrm>
          <a:prstGeom prst="rect">
            <a:avLst/>
          </a:prstGeom>
          <a:solidFill>
            <a:srgbClr val="8E0000"/>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err="1">
                <a:solidFill>
                  <a:srgbClr val="F8F8F8"/>
                </a:solidFill>
                <a:latin typeface="Garamond"/>
                <a:ea typeface="Garamond"/>
                <a:cs typeface="Garamond"/>
                <a:sym typeface="Garamond"/>
              </a:rPr>
              <a:t>Uml</a:t>
            </a:r>
            <a:endParaRPr sz="3600" i="0" u="none" strike="noStrike" cap="none" dirty="0">
              <a:solidFill>
                <a:srgbClr val="000000"/>
              </a:solidFill>
              <a:latin typeface="Garamond"/>
              <a:ea typeface="Garamond"/>
              <a:cs typeface="Garamond"/>
              <a:sym typeface="Garamond"/>
            </a:endParaRPr>
          </a:p>
        </p:txBody>
      </p:sp>
      <p:pic>
        <p:nvPicPr>
          <p:cNvPr id="1036" name="Picture 12" descr="Chat Gpt App Logo Stock Illustrations – 138 Chat Gpt App Logo Stock  Illustrations, Vectors &amp; Clipart - Dreamstime">
            <a:extLst>
              <a:ext uri="{FF2B5EF4-FFF2-40B4-BE49-F238E27FC236}">
                <a16:creationId xmlns:a16="http://schemas.microsoft.com/office/drawing/2014/main" id="{9300BC9A-E19E-E8A4-127F-04F527288C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6961" y="30015448"/>
            <a:ext cx="1983628" cy="1475518"/>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8" descr="The image depicts a circular icon with a central circle and three smaller interconnected circles, all sharing a common orange color.&#10;&#10;AI-generated content may be incorrect.">
            <a:extLst>
              <a:ext uri="{FF2B5EF4-FFF2-40B4-BE49-F238E27FC236}">
                <a16:creationId xmlns:a16="http://schemas.microsoft.com/office/drawing/2014/main" id="{B22B4FF5-30E0-C1E1-F4BC-55BCBDFF1155}"/>
              </a:ext>
            </a:extLst>
          </p:cNvPr>
          <p:cNvPicPr>
            <a:picLocks noChangeAspect="1"/>
          </p:cNvPicPr>
          <p:nvPr/>
        </p:nvPicPr>
        <p:blipFill>
          <a:blip r:embed="rId9"/>
          <a:stretch>
            <a:fillRect/>
          </a:stretch>
        </p:blipFill>
        <p:spPr>
          <a:xfrm>
            <a:off x="1359889" y="30072075"/>
            <a:ext cx="1705213" cy="1362265"/>
          </a:xfrm>
          <a:prstGeom prst="rect">
            <a:avLst/>
          </a:prstGeom>
        </p:spPr>
      </p:pic>
      <p:pic>
        <p:nvPicPr>
          <p:cNvPr id="6" name="Picture 5">
            <a:extLst>
              <a:ext uri="{FF2B5EF4-FFF2-40B4-BE49-F238E27FC236}">
                <a16:creationId xmlns:a16="http://schemas.microsoft.com/office/drawing/2014/main" id="{C89E8634-4E99-9AAF-CB12-4278B307E108}"/>
              </a:ext>
            </a:extLst>
          </p:cNvPr>
          <p:cNvPicPr>
            <a:picLocks noChangeAspect="1"/>
          </p:cNvPicPr>
          <p:nvPr/>
        </p:nvPicPr>
        <p:blipFill>
          <a:blip r:embed="rId10"/>
          <a:stretch>
            <a:fillRect/>
          </a:stretch>
        </p:blipFill>
        <p:spPr>
          <a:xfrm>
            <a:off x="24019338" y="12073957"/>
            <a:ext cx="6506483" cy="3057952"/>
          </a:xfrm>
          <a:prstGeom prst="rect">
            <a:avLst/>
          </a:prstGeom>
        </p:spPr>
      </p:pic>
      <p:sp>
        <p:nvSpPr>
          <p:cNvPr id="9" name="Google Shape;73;p1">
            <a:extLst>
              <a:ext uri="{FF2B5EF4-FFF2-40B4-BE49-F238E27FC236}">
                <a16:creationId xmlns:a16="http://schemas.microsoft.com/office/drawing/2014/main" id="{9A9ECE6C-E4D7-1062-6254-F379EB408440}"/>
              </a:ext>
            </a:extLst>
          </p:cNvPr>
          <p:cNvSpPr/>
          <p:nvPr/>
        </p:nvSpPr>
        <p:spPr>
          <a:xfrm>
            <a:off x="22285577" y="15397007"/>
            <a:ext cx="9982200" cy="579300"/>
          </a:xfrm>
          <a:prstGeom prst="rect">
            <a:avLst/>
          </a:prstGeom>
          <a:solidFill>
            <a:srgbClr val="8E0000"/>
          </a:solidFill>
          <a:ln>
            <a:noFill/>
          </a:ln>
        </p:spPr>
        <p:txBody>
          <a:bodyPr spcFirstLastPara="1" wrap="square" lIns="45600" tIns="45600" rIns="45600" bIns="45600" anchor="t" anchorCtr="0">
            <a:noAutofit/>
          </a:bodyPr>
          <a:lstStyle/>
          <a:p>
            <a:pPr algn="ctr">
              <a:buSzPts val="3200"/>
            </a:pPr>
            <a:r>
              <a:rPr lang="en-US" sz="3600" b="1" dirty="0">
                <a:solidFill>
                  <a:srgbClr val="F8F8F8"/>
                </a:solidFill>
                <a:latin typeface="Garamond"/>
                <a:ea typeface="Garamond"/>
                <a:cs typeface="Garamond"/>
                <a:sym typeface="Garamond"/>
              </a:rPr>
              <a:t>UML  Class Diagram</a:t>
            </a:r>
            <a:endParaRPr lang="en-US" sz="3600" dirty="0">
              <a:latin typeface="Garamond"/>
              <a:ea typeface="Garamond"/>
              <a:cs typeface="Garamond"/>
              <a:sym typeface="Garamond"/>
            </a:endParaRPr>
          </a:p>
          <a:p>
            <a:pPr marL="0" marR="0" lvl="0" indent="0" algn="ctr" rtl="0">
              <a:lnSpc>
                <a:spcPct val="100000"/>
              </a:lnSpc>
              <a:spcBef>
                <a:spcPts val="0"/>
              </a:spcBef>
              <a:spcAft>
                <a:spcPts val="0"/>
              </a:spcAft>
              <a:buClr>
                <a:srgbClr val="000000"/>
              </a:buClr>
              <a:buSzPts val="3200"/>
              <a:buFont typeface="Arial"/>
              <a:buNone/>
            </a:pPr>
            <a:endParaRPr sz="3600" i="0" u="none" strike="noStrike" cap="none" dirty="0">
              <a:solidFill>
                <a:srgbClr val="000000"/>
              </a:solidFill>
              <a:latin typeface="Garamond"/>
              <a:ea typeface="Garamond"/>
              <a:cs typeface="Garamond"/>
              <a:sym typeface="Garamond"/>
            </a:endParaRPr>
          </a:p>
        </p:txBody>
      </p:sp>
      <p:pic>
        <p:nvPicPr>
          <p:cNvPr id="14" name="Picture 13">
            <a:extLst>
              <a:ext uri="{FF2B5EF4-FFF2-40B4-BE49-F238E27FC236}">
                <a16:creationId xmlns:a16="http://schemas.microsoft.com/office/drawing/2014/main" id="{CFF5CFC2-F9C3-52D7-0DDD-E6CB2D139035}"/>
              </a:ext>
            </a:extLst>
          </p:cNvPr>
          <p:cNvPicPr>
            <a:picLocks noChangeAspect="1"/>
          </p:cNvPicPr>
          <p:nvPr/>
        </p:nvPicPr>
        <p:blipFill>
          <a:blip r:embed="rId11"/>
          <a:stretch>
            <a:fillRect/>
          </a:stretch>
        </p:blipFill>
        <p:spPr>
          <a:xfrm>
            <a:off x="22970522" y="16118997"/>
            <a:ext cx="8364117" cy="3315163"/>
          </a:xfrm>
          <a:prstGeom prst="rect">
            <a:avLst/>
          </a:prstGeom>
        </p:spPr>
      </p:pic>
      <p:sp>
        <p:nvSpPr>
          <p:cNvPr id="21" name="Google Shape;73;p1">
            <a:extLst>
              <a:ext uri="{FF2B5EF4-FFF2-40B4-BE49-F238E27FC236}">
                <a16:creationId xmlns:a16="http://schemas.microsoft.com/office/drawing/2014/main" id="{77E349F9-C067-A468-13D5-FF6C62EE7C7D}"/>
              </a:ext>
            </a:extLst>
          </p:cNvPr>
          <p:cNvSpPr/>
          <p:nvPr/>
        </p:nvSpPr>
        <p:spPr>
          <a:xfrm>
            <a:off x="22285577" y="19690673"/>
            <a:ext cx="9975314" cy="579300"/>
          </a:xfrm>
          <a:prstGeom prst="rect">
            <a:avLst/>
          </a:prstGeom>
          <a:solidFill>
            <a:srgbClr val="8E0000"/>
          </a:solidFill>
          <a:ln>
            <a:noFill/>
          </a:ln>
        </p:spPr>
        <p:txBody>
          <a:bodyPr spcFirstLastPara="1" wrap="square" lIns="45600" tIns="45600" rIns="45600" bIns="45600" anchor="t" anchorCtr="0">
            <a:noAutofit/>
          </a:bodyPr>
          <a:lstStyle/>
          <a:p>
            <a:pPr algn="ctr">
              <a:buSzPts val="3200"/>
            </a:pPr>
            <a:r>
              <a:rPr lang="en-US" sz="3600" b="1" dirty="0">
                <a:solidFill>
                  <a:srgbClr val="F8F8F8"/>
                </a:solidFill>
                <a:latin typeface="Garamond"/>
                <a:ea typeface="Garamond"/>
                <a:cs typeface="Garamond"/>
                <a:sym typeface="Garamond"/>
              </a:rPr>
              <a:t>Code</a:t>
            </a:r>
            <a:endParaRPr sz="3600" i="0" u="none" strike="noStrike" cap="none" dirty="0">
              <a:solidFill>
                <a:srgbClr val="000000"/>
              </a:solidFill>
              <a:latin typeface="Garamond"/>
              <a:ea typeface="Garamond"/>
              <a:cs typeface="Garamond"/>
              <a:sym typeface="Garamond"/>
            </a:endParaRPr>
          </a:p>
        </p:txBody>
      </p:sp>
      <p:pic>
        <p:nvPicPr>
          <p:cNvPr id="37" name="Picture 36" descr="A C++ code snippet depicting a binary search tree implementation with a structure for storing records, including constructors and member functions for insertion and node search.&#10;&#10;AI-generated content may be incorrect.">
            <a:extLst>
              <a:ext uri="{FF2B5EF4-FFF2-40B4-BE49-F238E27FC236}">
                <a16:creationId xmlns:a16="http://schemas.microsoft.com/office/drawing/2014/main" id="{93FDE656-EB09-4126-7FE3-524F4222A645}"/>
              </a:ext>
            </a:extLst>
          </p:cNvPr>
          <p:cNvPicPr>
            <a:picLocks noChangeAspect="1"/>
          </p:cNvPicPr>
          <p:nvPr/>
        </p:nvPicPr>
        <p:blipFill>
          <a:blip r:embed="rId12"/>
          <a:stretch>
            <a:fillRect/>
          </a:stretch>
        </p:blipFill>
        <p:spPr>
          <a:xfrm>
            <a:off x="22285576" y="20269973"/>
            <a:ext cx="9972935" cy="9840698"/>
          </a:xfrm>
          <a:prstGeom prst="rect">
            <a:avLst/>
          </a:prstGeom>
        </p:spPr>
      </p:pic>
      <p:pic>
        <p:nvPicPr>
          <p:cNvPr id="49" name="Picture 48" descr="The provided text appears to be a snippet of code, likely from a data structure or algorithm, specifically a binary search tree. It includes a conditional statement and a function to find the minimum node in a binary tree. However, since there is no image provided, I can't describe any visual content. If you have an image you'd like me to describe, please provide it, and I'll do my best to help.&#10;&#10;AI-generated content may be incorrect.">
            <a:extLst>
              <a:ext uri="{FF2B5EF4-FFF2-40B4-BE49-F238E27FC236}">
                <a16:creationId xmlns:a16="http://schemas.microsoft.com/office/drawing/2014/main" id="{7E563CD0-75D3-A562-70CB-D5CF53944731}"/>
              </a:ext>
            </a:extLst>
          </p:cNvPr>
          <p:cNvPicPr>
            <a:picLocks noChangeAspect="1"/>
          </p:cNvPicPr>
          <p:nvPr/>
        </p:nvPicPr>
        <p:blipFill>
          <a:blip r:embed="rId13"/>
          <a:stretch>
            <a:fillRect/>
          </a:stretch>
        </p:blipFill>
        <p:spPr>
          <a:xfrm>
            <a:off x="22283198" y="30015448"/>
            <a:ext cx="9975314" cy="2191056"/>
          </a:xfrm>
          <a:prstGeom prst="rect">
            <a:avLst/>
          </a:prstGeom>
        </p:spPr>
      </p:pic>
      <p:pic>
        <p:nvPicPr>
          <p:cNvPr id="63" name="Picture 62" descr="The image is a user interface prompting a selection from a list of records sorted by ascending ID, featuring project, student, and employee records.&#10;&#10;AI-generated content may be incorrect.">
            <a:extLst>
              <a:ext uri="{FF2B5EF4-FFF2-40B4-BE49-F238E27FC236}">
                <a16:creationId xmlns:a16="http://schemas.microsoft.com/office/drawing/2014/main" id="{51700B43-14E4-260B-8239-4A8327D06A5D}"/>
              </a:ext>
            </a:extLst>
          </p:cNvPr>
          <p:cNvPicPr>
            <a:picLocks noChangeAspect="1"/>
          </p:cNvPicPr>
          <p:nvPr/>
        </p:nvPicPr>
        <p:blipFill>
          <a:blip r:embed="rId14"/>
          <a:stretch>
            <a:fillRect/>
          </a:stretch>
        </p:blipFill>
        <p:spPr>
          <a:xfrm>
            <a:off x="33061950" y="8973192"/>
            <a:ext cx="9982201" cy="1819529"/>
          </a:xfrm>
          <a:prstGeom prst="rect">
            <a:avLst/>
          </a:prstGeom>
        </p:spPr>
      </p:pic>
    </p:spTree>
  </p:cSld>
  <p:clrMapOvr>
    <a:masterClrMapping/>
  </p:clrMapOvr>
</p:sld>
</file>

<file path=ppt/theme/theme1.xml><?xml version="1.0" encoding="utf-8"?>
<a:theme xmlns:a="http://schemas.openxmlformats.org/drawingml/2006/main" name="1_Default">
  <a:themeElements>
    <a:clrScheme name="1_Default 2">
      <a:dk1>
        <a:srgbClr val="000000"/>
      </a:dk1>
      <a:lt1>
        <a:srgbClr val="AABAC9"/>
      </a:lt1>
      <a:dk2>
        <a:srgbClr val="A7A7A7"/>
      </a:dk2>
      <a:lt2>
        <a:srgbClr val="535353"/>
      </a:lt2>
      <a:accent1>
        <a:srgbClr val="D7D7D7"/>
      </a:accent1>
      <a:accent2>
        <a:srgbClr val="006BD6"/>
      </a:accent2>
      <a:accent3>
        <a:srgbClr val="D2D9E1"/>
      </a:accent3>
      <a:accent4>
        <a:srgbClr val="000000"/>
      </a:accent4>
      <a:accent5>
        <a:srgbClr val="E8E8E8"/>
      </a:accent5>
      <a:accent6>
        <a:srgbClr val="0060C2"/>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D7D7D7"/>
      </a:accent1>
      <a:accent2>
        <a:srgbClr val="003466"/>
      </a:accent2>
      <a:accent3>
        <a:srgbClr val="D0D7DF"/>
      </a:accent3>
      <a:accent4>
        <a:srgbClr val="707070"/>
      </a:accent4>
      <a:accent5>
        <a:srgbClr val="E6E6E6"/>
      </a:accent5>
      <a:accent6>
        <a:srgbClr val="002F5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14850</TotalTime>
  <Words>1032</Words>
  <Application>Microsoft Office PowerPoint</Application>
  <PresentationFormat>Custom</PresentationFormat>
  <Paragraphs>58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Garamond</vt:lpstr>
      <vt:lpstr>Helvetica Neue</vt:lpstr>
      <vt:lpstr>Arial Black</vt:lpstr>
      <vt:lpstr>Arial</vt:lpstr>
      <vt:lpstr>1_Default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Govindaswamy, Victor</dc:creator>
  <cp:lastModifiedBy>Naga Mahadeva</cp:lastModifiedBy>
  <cp:revision>28</cp:revision>
  <dcterms:modified xsi:type="dcterms:W3CDTF">2026-10-29T04:30:51Z</dcterms:modified>
</cp:coreProperties>
</file>