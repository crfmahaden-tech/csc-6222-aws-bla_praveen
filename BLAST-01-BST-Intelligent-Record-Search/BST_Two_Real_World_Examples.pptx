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A"/>
                </a:solidFill>
                <a:latin typeface="Aptos Display"/>
              </a:defRPr>
            </a:pPr>
            <a:r>
              <a:t>Two Real-World Examples of Tree-Based Searching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8"/>
                </a:solidFill>
                <a:latin typeface="Aptos"/>
              </a:defRPr>
            </a:pPr>
            <a:r>
              <a:t>How ordered tree structures support fast lookup and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349240" cy="3520440"/>
          </a:xfrm>
          <a:prstGeom prst="roundRect">
            <a:avLst/>
          </a:prstGeom>
          <a:solidFill>
            <a:srgbClr val="F5F8FC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91440" cy="3520440"/>
          </a:xfrm>
          <a:prstGeom prst="rect">
            <a:avLst/>
          </a:prstGeom>
          <a:solidFill>
            <a:srgbClr val="2A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64792"/>
            <a:ext cx="48920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A"/>
                </a:solidFill>
                <a:latin typeface="Aptos Display"/>
              </a:defRPr>
            </a:pPr>
            <a:r>
              <a:t>1. Linux Kernel — Red-Black Trees</a:t>
            </a:r>
          </a:p>
          <a:p>
            <a:pPr>
              <a:spcBef>
                <a:spcPts val="800"/>
              </a:spcBef>
              <a:defRPr sz="1300">
                <a:solidFill>
                  <a:srgbClr val="28303C"/>
                </a:solidFill>
                <a:latin typeface="Aptos"/>
              </a:defRPr>
            </a:pPr>
            <a:r>
              <a:t>The Linux kernel documents red-black trees as a data structure used in kernel subsystems, including areas such as virtual memory management and event handling.</a:t>
            </a:r>
            <a:br/>
            <a:br/>
            <a:r>
              <a:t>Why it matters: the tree keeps items ordered while balancing itself, helping operations remain efficient as data grows.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349240" cy="3520440"/>
          </a:xfrm>
          <a:prstGeom prst="roundRect">
            <a:avLst/>
          </a:prstGeom>
          <a:solidFill>
            <a:srgbClr val="F5F8FC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00200"/>
            <a:ext cx="91440" cy="3520440"/>
          </a:xfrm>
          <a:prstGeom prst="rect">
            <a:avLst/>
          </a:prstGeom>
          <a:solidFill>
            <a:srgbClr val="14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764792"/>
            <a:ext cx="48920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A"/>
                </a:solidFill>
                <a:latin typeface="Aptos Display"/>
              </a:defRPr>
            </a:pPr>
            <a:r>
              <a:t>2. Hospital Record Lookup — Application Scenario</a:t>
            </a:r>
          </a:p>
          <a:p>
            <a:pPr>
              <a:spcBef>
                <a:spcPts val="800"/>
              </a:spcBef>
              <a:defRPr sz="1300">
                <a:solidFill>
                  <a:srgbClr val="28303C"/>
                </a:solidFill>
                <a:latin typeface="Aptos"/>
              </a:defRPr>
            </a:pPr>
            <a:r>
              <a:t>A hospital record-search application can organize records by unique patient/record ID. A search for ID 1042 follows comparisons down the tree instead of checking every record one by one.</a:t>
            </a:r>
            <a:br/>
            <a:br/>
            <a:r>
              <a:t>Why it matters: it illustrates how a BST can support record search, insertion, deletion, and sorted listings. This is an example scenario, not a claim about a named hospital’s deployed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A"/>
                </a:solidFill>
              </a:defRPr>
            </a:pPr>
            <a:r>
              <a:t>Important distinction: the Linux kernel example uses a self-balancing red-black tree, not a plain, unbalanced BST.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A78"/>
                </a:solidFill>
              </a:defRPr>
            </a:pPr>
            <a:r>
              <a:t>BLAST 01 • Binary Search Tree (BST) • Real-world examples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A"/>
                </a:solidFill>
                <a:latin typeface="Aptos Display"/>
              </a:defRPr>
            </a:pPr>
            <a:r>
              <a:t>Example 1: Linux Kernel — Real Use of Red-Black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8"/>
                </a:solidFill>
                <a:latin typeface="Aptos"/>
              </a:defRPr>
            </a:pPr>
            <a:r>
              <a:t>A documented software-system example of a self-balancing binary search tree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5166360" y="2084831"/>
            <a:ext cx="1188720" cy="429769"/>
          </a:xfrm>
          <a:prstGeom prst="line">
            <a:avLst/>
          </a:prstGeom>
          <a:ln w="25400">
            <a:solidFill>
              <a:srgbClr val="9B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20840" y="2084831"/>
            <a:ext cx="1005839" cy="429769"/>
          </a:xfrm>
          <a:prstGeom prst="line">
            <a:avLst/>
          </a:prstGeom>
          <a:ln w="25400">
            <a:solidFill>
              <a:srgbClr val="9B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343400" y="2971800"/>
            <a:ext cx="640080" cy="457200"/>
          </a:xfrm>
          <a:prstGeom prst="line">
            <a:avLst/>
          </a:prstGeom>
          <a:ln w="25400">
            <a:solidFill>
              <a:srgbClr val="9B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03520" y="2971800"/>
            <a:ext cx="411480" cy="457200"/>
          </a:xfrm>
          <a:prstGeom prst="line">
            <a:avLst/>
          </a:prstGeom>
          <a:ln w="25400">
            <a:solidFill>
              <a:srgbClr val="9B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995160" y="2971800"/>
            <a:ext cx="320040" cy="457200"/>
          </a:xfrm>
          <a:prstGeom prst="line">
            <a:avLst/>
          </a:prstGeom>
          <a:ln w="25400">
            <a:solidFill>
              <a:srgbClr val="9B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35240" y="2971800"/>
            <a:ext cx="640080" cy="457200"/>
          </a:xfrm>
          <a:prstGeom prst="line">
            <a:avLst/>
          </a:prstGeom>
          <a:ln w="25400">
            <a:solidFill>
              <a:srgbClr val="9B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788152" y="1399032"/>
            <a:ext cx="585216" cy="438912"/>
          </a:xfrm>
          <a:prstGeom prst="ellipse">
            <a:avLst/>
          </a:prstGeom>
          <a:solidFill>
            <a:srgbClr val="E5EFFA"/>
          </a:solidFill>
          <a:ln>
            <a:solidFill>
              <a:srgbClr val="2A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>
              <a:defRPr sz="1300" b="1">
                <a:solidFill>
                  <a:srgbClr val="182B4A"/>
                </a:solidFill>
              </a:defRPr>
            </a:pPr>
            <a:r>
              <a:t>40</a:t>
            </a:r>
          </a:p>
        </p:txBody>
      </p:sp>
      <p:sp>
        <p:nvSpPr>
          <p:cNvPr id="12" name="Oval 11"/>
          <p:cNvSpPr/>
          <p:nvPr/>
        </p:nvSpPr>
        <p:spPr>
          <a:xfrm>
            <a:off x="4462272" y="2313432"/>
            <a:ext cx="585216" cy="438912"/>
          </a:xfrm>
          <a:prstGeom prst="ellipse">
            <a:avLst/>
          </a:prstGeom>
          <a:solidFill>
            <a:srgbClr val="E5EFFA"/>
          </a:solidFill>
          <a:ln>
            <a:solidFill>
              <a:srgbClr val="2A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>
              <a:defRPr sz="1300" b="1">
                <a:solidFill>
                  <a:srgbClr val="182B4A"/>
                </a:solidFill>
              </a:defRPr>
            </a:pPr>
            <a:r>
              <a:t>20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1" y="2313432"/>
            <a:ext cx="585216" cy="438912"/>
          </a:xfrm>
          <a:prstGeom prst="ellipse">
            <a:avLst/>
          </a:prstGeom>
          <a:solidFill>
            <a:srgbClr val="E5EFFA"/>
          </a:solidFill>
          <a:ln>
            <a:solidFill>
              <a:srgbClr val="2A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>
              <a:defRPr sz="1300" b="1">
                <a:solidFill>
                  <a:srgbClr val="182B4A"/>
                </a:solidFill>
              </a:defRPr>
            </a:pPr>
            <a:r>
              <a:t>60</a:t>
            </a:r>
          </a:p>
        </p:txBody>
      </p:sp>
      <p:sp>
        <p:nvSpPr>
          <p:cNvPr id="14" name="Oval 13"/>
          <p:cNvSpPr/>
          <p:nvPr/>
        </p:nvSpPr>
        <p:spPr>
          <a:xfrm>
            <a:off x="3685031" y="3227832"/>
            <a:ext cx="585216" cy="438912"/>
          </a:xfrm>
          <a:prstGeom prst="ellipse">
            <a:avLst/>
          </a:prstGeom>
          <a:solidFill>
            <a:srgbClr val="E5EFFA"/>
          </a:solidFill>
          <a:ln>
            <a:solidFill>
              <a:srgbClr val="2A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>
              <a:defRPr sz="1300" b="1">
                <a:solidFill>
                  <a:srgbClr val="182B4A"/>
                </a:solidFill>
              </a:defRPr>
            </a:pPr>
            <a:r>
              <a:t>10</a:t>
            </a:r>
          </a:p>
        </p:txBody>
      </p:sp>
      <p:sp>
        <p:nvSpPr>
          <p:cNvPr id="15" name="Oval 14"/>
          <p:cNvSpPr/>
          <p:nvPr/>
        </p:nvSpPr>
        <p:spPr>
          <a:xfrm>
            <a:off x="5148072" y="3227832"/>
            <a:ext cx="585216" cy="438912"/>
          </a:xfrm>
          <a:prstGeom prst="ellipse">
            <a:avLst/>
          </a:prstGeom>
          <a:solidFill>
            <a:srgbClr val="E5EFFA"/>
          </a:solidFill>
          <a:ln>
            <a:solidFill>
              <a:srgbClr val="2A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>
              <a:defRPr sz="1300" b="1">
                <a:solidFill>
                  <a:srgbClr val="182B4A"/>
                </a:solidFill>
              </a:defRPr>
            </a:pPr>
            <a:r>
              <a:t>30</a:t>
            </a:r>
          </a:p>
        </p:txBody>
      </p:sp>
      <p:sp>
        <p:nvSpPr>
          <p:cNvPr id="16" name="Oval 15"/>
          <p:cNvSpPr/>
          <p:nvPr/>
        </p:nvSpPr>
        <p:spPr>
          <a:xfrm>
            <a:off x="6428231" y="3227832"/>
            <a:ext cx="585216" cy="438912"/>
          </a:xfrm>
          <a:prstGeom prst="ellipse">
            <a:avLst/>
          </a:prstGeom>
          <a:solidFill>
            <a:srgbClr val="E5EFFA"/>
          </a:solidFill>
          <a:ln>
            <a:solidFill>
              <a:srgbClr val="2A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>
              <a:defRPr sz="1300" b="1">
                <a:solidFill>
                  <a:srgbClr val="182B4A"/>
                </a:solidFill>
              </a:defRPr>
            </a:pPr>
            <a:r>
              <a:t>50</a:t>
            </a:r>
          </a:p>
        </p:txBody>
      </p:sp>
      <p:sp>
        <p:nvSpPr>
          <p:cNvPr id="17" name="Oval 16"/>
          <p:cNvSpPr/>
          <p:nvPr/>
        </p:nvSpPr>
        <p:spPr>
          <a:xfrm>
            <a:off x="7799831" y="3227832"/>
            <a:ext cx="585216" cy="438912"/>
          </a:xfrm>
          <a:prstGeom prst="ellipse">
            <a:avLst/>
          </a:prstGeom>
          <a:solidFill>
            <a:srgbClr val="E5EFFA"/>
          </a:solidFill>
          <a:ln>
            <a:solidFill>
              <a:srgbClr val="2A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>
              <a:defRPr sz="1300" b="1">
                <a:solidFill>
                  <a:srgbClr val="182B4A"/>
                </a:solidFill>
              </a:defRPr>
            </a:pPr>
            <a:r>
              <a:t>70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1600200"/>
            <a:ext cx="333756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1600200"/>
            <a:ext cx="91440" cy="3566160"/>
          </a:xfrm>
          <a:prstGeom prst="rect">
            <a:avLst/>
          </a:prstGeom>
          <a:solidFill>
            <a:srgbClr val="2A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1764792"/>
            <a:ext cx="2880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A"/>
                </a:solidFill>
                <a:latin typeface="Aptos Display"/>
              </a:defRPr>
            </a:pPr>
            <a:r>
              <a:t>What it does</a:t>
            </a:r>
          </a:p>
          <a:p>
            <a:pPr>
              <a:spcBef>
                <a:spcPts val="800"/>
              </a:spcBef>
              <a:defRPr sz="1300">
                <a:solidFill>
                  <a:srgbClr val="28303C"/>
                </a:solidFill>
                <a:latin typeface="Aptos"/>
              </a:defRPr>
            </a:pPr>
            <a:r>
              <a:t>Maintains ordered data in a balanced tree so kernel components can locate, add, or remove entries efficiently.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1600200"/>
            <a:ext cx="274320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520" y="1600200"/>
            <a:ext cx="91440" cy="3566160"/>
          </a:xfrm>
          <a:prstGeom prst="rect">
            <a:avLst/>
          </a:prstGeom>
          <a:solidFill>
            <a:srgbClr val="14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88552" y="1764792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A"/>
                </a:solidFill>
                <a:latin typeface="Aptos Display"/>
              </a:defRPr>
            </a:pPr>
            <a:r>
              <a:t>Why it is useful</a:t>
            </a:r>
          </a:p>
          <a:p>
            <a:pPr>
              <a:spcBef>
                <a:spcPts val="800"/>
              </a:spcBef>
              <a:defRPr sz="1300">
                <a:solidFill>
                  <a:srgbClr val="28303C"/>
                </a:solidFill>
                <a:latin typeface="Aptos"/>
              </a:defRPr>
            </a:pPr>
            <a:r>
              <a:t>Balancing prevents the tree from becoming a long chain when data arrives in an unlucky order.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2B4A"/>
                </a:solidFill>
              </a:defRPr>
            </a:pPr>
            <a:r>
              <a:t>Source: Linux kernel documentation — Red-black trees</a:t>
            </a:r>
          </a:p>
          <a:p>
            <a:pPr>
              <a:defRPr sz="1100">
                <a:solidFill>
                  <a:srgbClr val="2A67B0"/>
                </a:solidFill>
              </a:defRPr>
            </a:pPr>
            <a:r>
              <a:t>https://www.kernel.org/doc/html/latest/core-api/rbtree.html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A78"/>
                </a:solidFill>
              </a:defRPr>
            </a:pPr>
            <a:r>
              <a:t>BLAST 01 • Binary Search Tree (BST) • Real-world examples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A"/>
                </a:solidFill>
                <a:latin typeface="Aptos Display"/>
              </a:defRPr>
            </a:pPr>
            <a:r>
              <a:t>Example 2: Intelligent Hospital Record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8"/>
                </a:solidFill>
                <a:latin typeface="Aptos"/>
              </a:defRPr>
            </a:pPr>
            <a:r>
              <a:t>A realistic use-case scenario that maps directly to your C++ BST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331720" cy="1143000"/>
          </a:xfrm>
          <a:prstGeom prst="roundRect">
            <a:avLst/>
          </a:prstGeom>
          <a:solidFill>
            <a:srgbClr val="E5EFFA"/>
          </a:solidFill>
          <a:ln>
            <a:solidFill>
              <a:srgbClr val="2A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82B4A"/>
                </a:solidFill>
              </a:defRPr>
            </a:pPr>
            <a:r>
              <a:t>Search request</a:t>
            </a:r>
          </a:p>
          <a:p>
            <a:pPr algn="ctr">
              <a:defRPr sz="1100">
                <a:solidFill>
                  <a:srgbClr val="28303C"/>
                </a:solidFill>
              </a:defRPr>
            </a:pPr>
            <a:r>
              <a:t>Record ID: 1042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17520" y="2491740"/>
            <a:ext cx="365760" cy="0"/>
          </a:xfrm>
          <a:prstGeom prst="line">
            <a:avLst/>
          </a:prstGeom>
          <a:ln w="25400">
            <a:solidFill>
              <a:srgbClr val="5F6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29000" y="1920240"/>
            <a:ext cx="2331720" cy="1143000"/>
          </a:xfrm>
          <a:prstGeom prst="roundRect">
            <a:avLst/>
          </a:prstGeom>
          <a:solidFill>
            <a:srgbClr val="E5EFFA"/>
          </a:solidFill>
          <a:ln>
            <a:solidFill>
              <a:srgbClr val="2A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82B4A"/>
                </a:solidFill>
              </a:defRPr>
            </a:pPr>
            <a:r>
              <a:t>BST lookup</a:t>
            </a:r>
          </a:p>
          <a:p>
            <a:pPr algn="ctr">
              <a:defRPr sz="1100">
                <a:solidFill>
                  <a:srgbClr val="28303C"/>
                </a:solidFill>
              </a:defRPr>
            </a:pPr>
            <a:r>
              <a:t>Compare IDs at nodes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720" y="2491740"/>
            <a:ext cx="365760" cy="0"/>
          </a:xfrm>
          <a:prstGeom prst="line">
            <a:avLst/>
          </a:prstGeom>
          <a:ln w="25400">
            <a:solidFill>
              <a:srgbClr val="5F6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72200" y="1920240"/>
            <a:ext cx="2331720" cy="1143000"/>
          </a:xfrm>
          <a:prstGeom prst="roundRect">
            <a:avLst/>
          </a:prstGeom>
          <a:solidFill>
            <a:srgbClr val="E5EFFA"/>
          </a:solidFill>
          <a:ln>
            <a:solidFill>
              <a:srgbClr val="2A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82B4A"/>
                </a:solidFill>
              </a:defRPr>
            </a:pPr>
            <a:r>
              <a:t>Record found</a:t>
            </a:r>
          </a:p>
          <a:p>
            <a:pPr algn="ctr">
              <a:defRPr sz="1100">
                <a:solidFill>
                  <a:srgbClr val="28303C"/>
                </a:solidFill>
              </a:defRPr>
            </a:pPr>
            <a:r>
              <a:t>Return matching entry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20" y="2491740"/>
            <a:ext cx="365760" cy="0"/>
          </a:xfrm>
          <a:prstGeom prst="line">
            <a:avLst/>
          </a:prstGeom>
          <a:ln w="25400">
            <a:solidFill>
              <a:srgbClr val="5F6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915400" y="1920240"/>
            <a:ext cx="2514600" cy="1143000"/>
          </a:xfrm>
          <a:prstGeom prst="roundRect">
            <a:avLst/>
          </a:prstGeom>
          <a:solidFill>
            <a:srgbClr val="E2F4EF"/>
          </a:solidFill>
          <a:ln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82B4A"/>
                </a:solidFill>
              </a:defRPr>
            </a:pPr>
            <a:r>
              <a:t>Optional AI layer</a:t>
            </a:r>
          </a:p>
          <a:p>
            <a:pPr algn="ctr">
              <a:defRPr sz="1100">
                <a:solidFill>
                  <a:srgbClr val="28303C"/>
                </a:solidFill>
              </a:defRPr>
            </a:pPr>
            <a:r>
              <a:t>Summarize / categorize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525780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794760"/>
            <a:ext cx="91440" cy="1417320"/>
          </a:xfrm>
          <a:prstGeom prst="rect">
            <a:avLst/>
          </a:prstGeom>
          <a:solidFill>
            <a:srgbClr val="2A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959352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A"/>
                </a:solidFill>
                <a:latin typeface="Aptos Display"/>
              </a:defRPr>
            </a:pPr>
            <a:r>
              <a:t>BST code needed for this assignment</a:t>
            </a:r>
          </a:p>
          <a:p>
            <a:pPr>
              <a:spcBef>
                <a:spcPts val="800"/>
              </a:spcBef>
              <a:defRPr sz="1300">
                <a:solidFill>
                  <a:srgbClr val="28303C"/>
                </a:solidFill>
                <a:latin typeface="Aptos"/>
              </a:defRPr>
            </a:pPr>
            <a:r>
              <a:t>Yes — your C++ app already demonstrates adding, searching, deleting, and listing records by 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794760"/>
            <a:ext cx="91440" cy="1417320"/>
          </a:xfrm>
          <a:prstGeom prst="rect">
            <a:avLst/>
          </a:prstGeom>
          <a:solidFill>
            <a:srgbClr val="14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3959352"/>
            <a:ext cx="4617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A"/>
                </a:solidFill>
                <a:latin typeface="Aptos Display"/>
              </a:defRPr>
            </a:pPr>
            <a:r>
              <a:t>AI code needed for the example slide?</a:t>
            </a:r>
          </a:p>
          <a:p>
            <a:pPr>
              <a:spcBef>
                <a:spcPts val="800"/>
              </a:spcBef>
              <a:defRPr sz="1300">
                <a:solidFill>
                  <a:srgbClr val="28303C"/>
                </a:solidFill>
                <a:latin typeface="Aptos"/>
              </a:defRPr>
            </a:pPr>
            <a:r>
              <a:t>No. Describe AI as a possible extension. Do not claim your current program uses an AI model unless you actually add 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A78"/>
                </a:solidFill>
              </a:defRPr>
            </a:pPr>
            <a:r>
              <a:t>BLAST 01 • Binary Search Tree (BST) • Real-world examples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A"/>
                </a:solidFill>
                <a:latin typeface="Aptos Display"/>
              </a:defRPr>
            </a:pPr>
            <a:r>
              <a:t>Do You Need to Code These Examples?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8"/>
                </a:solidFill>
                <a:latin typeface="Aptos"/>
              </a:defRPr>
            </a:pPr>
            <a:r>
              <a:t>Keep the assignment scope clear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91440" cy="1828800"/>
          </a:xfrm>
          <a:prstGeom prst="rect">
            <a:avLst/>
          </a:prstGeom>
          <a:solidFill>
            <a:srgbClr val="2A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19072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A"/>
                </a:solidFill>
                <a:latin typeface="Aptos Display"/>
              </a:defRPr>
            </a:pPr>
            <a:r>
              <a:t>For the two real-world examples</a:t>
            </a:r>
          </a:p>
          <a:p>
            <a:pPr>
              <a:spcBef>
                <a:spcPts val="800"/>
              </a:spcBef>
              <a:defRPr sz="1300">
                <a:solidFill>
                  <a:srgbClr val="28303C"/>
                </a:solidFill>
                <a:latin typeface="Aptos"/>
              </a:defRPr>
            </a:pPr>
            <a:r>
              <a:t>No additional code is required. Explain the examples in your presentation and cite the Linux kernel documentation.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91440" cy="1828800"/>
          </a:xfrm>
          <a:prstGeom prst="rect">
            <a:avLst/>
          </a:prstGeom>
          <a:solidFill>
            <a:srgbClr val="14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19072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A"/>
                </a:solidFill>
                <a:latin typeface="Aptos Display"/>
              </a:defRPr>
            </a:pPr>
            <a:r>
              <a:t>For Part 2 of BLAST 01</a:t>
            </a:r>
          </a:p>
          <a:p>
            <a:pPr>
              <a:spcBef>
                <a:spcPts val="800"/>
              </a:spcBef>
              <a:defRPr sz="1300">
                <a:solidFill>
                  <a:srgbClr val="28303C"/>
                </a:solidFill>
                <a:latin typeface="Aptos"/>
              </a:defRPr>
            </a:pPr>
            <a:r>
              <a:t>Yes. The assignment requires your own menu-based C++ application implementing a BST. Your Intelligent Record-Search app is intended to satisfy this requirement.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30352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703320"/>
            <a:ext cx="91440" cy="1554480"/>
          </a:xfrm>
          <a:prstGeom prst="rect">
            <a:avLst/>
          </a:prstGeom>
          <a:solidFill>
            <a:srgbClr val="2A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867911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A"/>
                </a:solidFill>
                <a:latin typeface="Aptos Display"/>
              </a:defRPr>
            </a:pPr>
            <a:r>
              <a:t>What you should demonstrate</a:t>
            </a:r>
          </a:p>
          <a:p>
            <a:pPr>
              <a:spcBef>
                <a:spcPts val="800"/>
              </a:spcBef>
              <a:defRPr sz="1300">
                <a:solidFill>
                  <a:srgbClr val="28303C"/>
                </a:solidFill>
                <a:latin typeface="Aptos"/>
              </a:defRPr>
            </a:pPr>
            <a:r>
              <a:t>Run your app in Ubuntu; show add, search, delete, sorted display, invalid input, and an empty-tree or missing-record case.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03320"/>
            <a:ext cx="521208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91440" cy="1554480"/>
          </a:xfrm>
          <a:prstGeom prst="rect">
            <a:avLst/>
          </a:prstGeom>
          <a:solidFill>
            <a:srgbClr val="14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867911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A"/>
                </a:solidFill>
                <a:latin typeface="Aptos Display"/>
              </a:defRPr>
            </a:pPr>
            <a:r>
              <a:t>Be accurate about AI</a:t>
            </a:r>
          </a:p>
          <a:p>
            <a:pPr>
              <a:spcBef>
                <a:spcPts val="800"/>
              </a:spcBef>
              <a:defRPr sz="1300">
                <a:solidFill>
                  <a:srgbClr val="28303C"/>
                </a:solidFill>
                <a:latin typeface="Aptos"/>
              </a:defRPr>
            </a:pPr>
            <a:r>
              <a:t>Your current program is BST-based record search, not a full AI system. Explain AI integration as a proposed extension unless you implement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A78"/>
                </a:solidFill>
              </a:defRPr>
            </a:pPr>
            <a:r>
              <a:t>BLAST 01 • Binary Search Tree (BST) • Real-world examples  |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