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Part 3 — UML /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Design diagrams for the BST-based Intelligent Record-Search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2223D"/>
                </a:solidFill>
                <a:latin typeface="Aptos"/>
              </a:rPr>
              <a:t>This section documents three things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338328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73152" cy="137160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UML class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07208"/>
            <a:ext cx="3063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Classes, members, methods, and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38328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331720"/>
            <a:ext cx="73152" cy="137160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44144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Application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07208"/>
            <a:ext cx="3063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How user choices move through the menu and BST.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338328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331720"/>
            <a:ext cx="73152" cy="137160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44144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Design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07208"/>
            <a:ext cx="3063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Diagrams should match the C++ source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100" b="1">
                <a:solidFill>
                  <a:srgbClr val="12223D"/>
                </a:solidFill>
                <a:latin typeface="Aptos"/>
              </a:rPr>
              <a:t>Project: Intelligent Record-Search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5D6C7E"/>
                </a:solidFill>
                <a:latin typeface="Aptos"/>
              </a:rPr>
              <a:t>Data structure: Binary Search Tree • Language: C++17 • Environment: Ubuntu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UML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Main classes, members, methods, and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8803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880360" cy="365760"/>
          </a:xfrm>
          <a:prstGeom prst="rect">
            <a:avLst/>
          </a:prstGeom>
          <a:solidFill>
            <a:srgbClr val="15978E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874519"/>
            <a:ext cx="280720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Record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2194560"/>
            <a:ext cx="2880360" cy="0"/>
          </a:xfrm>
          <a:prstGeom prst="line">
            <a:avLst/>
          </a:prstGeom>
          <a:ln w="12700">
            <a:solidFill>
              <a:srgbClr val="122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2231136"/>
            <a:ext cx="2697479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D3A"/>
                </a:solidFill>
                <a:latin typeface="Aptos"/>
              </a:rPr>
              <a:t>+ id: int
+ description: string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2779776"/>
            <a:ext cx="2880360" cy="0"/>
          </a:xfrm>
          <a:prstGeom prst="line">
            <a:avLst/>
          </a:prstGeom>
          <a:ln w="12700">
            <a:solidFill>
              <a:srgbClr val="122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816352"/>
            <a:ext cx="2697479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32D3A"/>
                </a:solidFill>
                <a:latin typeface="Apto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1828800"/>
            <a:ext cx="31546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1828800"/>
            <a:ext cx="3154680" cy="365760"/>
          </a:xfrm>
          <a:prstGeom prst="rect">
            <a:avLst/>
          </a:prstGeom>
          <a:solidFill>
            <a:srgbClr val="2768A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14215" y="1874519"/>
            <a:ext cx="308152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2194560"/>
            <a:ext cx="3154681" cy="0"/>
          </a:xfrm>
          <a:prstGeom prst="line">
            <a:avLst/>
          </a:prstGeom>
          <a:ln w="12700">
            <a:solidFill>
              <a:srgbClr val="122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69079" y="2231136"/>
            <a:ext cx="2971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D3A"/>
                </a:solidFill>
                <a:latin typeface="Aptos"/>
              </a:rPr>
              <a:t>+ data: Record
+ left: Node*
+ right: Node*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77639" y="3035808"/>
            <a:ext cx="3154681" cy="0"/>
          </a:xfrm>
          <a:prstGeom prst="line">
            <a:avLst/>
          </a:prstGeom>
          <a:ln w="12700">
            <a:solidFill>
              <a:srgbClr val="122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69079" y="3072384"/>
            <a:ext cx="2971800" cy="18470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32D3A"/>
                </a:solidFill>
                <a:latin typeface="Aptos"/>
              </a:rPr>
              <a:t>+ Node(id, description)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645920"/>
            <a:ext cx="38862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645920"/>
            <a:ext cx="3886200" cy="365760"/>
          </a:xfrm>
          <a:prstGeom prst="rect">
            <a:avLst/>
          </a:prstGeom>
          <a:solidFill>
            <a:srgbClr val="F29D38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63255" y="1691640"/>
            <a:ext cx="38130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BinarySearchTree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26679" y="2011680"/>
            <a:ext cx="3886201" cy="0"/>
          </a:xfrm>
          <a:prstGeom prst="line">
            <a:avLst/>
          </a:prstGeom>
          <a:ln w="12700">
            <a:solidFill>
              <a:srgbClr val="122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8119" y="2048256"/>
            <a:ext cx="370332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D3A"/>
                </a:solidFill>
                <a:latin typeface="Aptos"/>
              </a:rPr>
              <a:t>- root: Node*
- totalRecords: int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79" y="2596896"/>
            <a:ext cx="3886201" cy="0"/>
          </a:xfrm>
          <a:prstGeom prst="line">
            <a:avLst/>
          </a:prstGeom>
          <a:ln w="12700">
            <a:solidFill>
              <a:srgbClr val="122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8119" y="2633472"/>
            <a:ext cx="37033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32D3A"/>
                </a:solidFill>
                <a:latin typeface="Aptos"/>
              </a:rPr>
              <a:t>+ insert(id, description): bool
+ search(id): Record*
+ remove(id): bool
+ displayAll(): void
+ displayMinimumMaximum(): void
+ count(): int
+ isEmpty(): bool
- insertNode(...)
- findNode(...)
- deleteNode(...)
- displayInOrder(...)
- clearTree(...)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83280" y="2743200"/>
            <a:ext cx="594359" cy="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01568" y="248716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5D6C7E"/>
                </a:solidFill>
                <a:latin typeface="Aptos"/>
              </a:rPr>
              <a:t>stores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0" y="2971800"/>
            <a:ext cx="594359" cy="0"/>
          </a:xfrm>
          <a:prstGeom prst="line">
            <a:avLst/>
          </a:prstGeom>
          <a:ln w="25400">
            <a:solidFill>
              <a:srgbClr val="27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50608" y="2697480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5D6C7E"/>
                </a:solidFill>
                <a:latin typeface="Aptos"/>
              </a:rPr>
              <a:t>manages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2223D"/>
                </a:solidFill>
                <a:latin typeface="Aptos"/>
              </a:rPr>
              <a:t>Notation: + public  |  − private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D6C7E"/>
                </a:solidFill>
                <a:latin typeface="Aptos"/>
              </a:rPr>
              <a:t>main.cpp creates a BinarySearchTree object and calls its public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Class responsibilities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How the classes collaborate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3063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Stores a unique ID and its description.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3832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04288"/>
            <a:ext cx="3063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Contains one Record and left/right child pointers.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3832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73152" cy="182880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3852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BinarySearchTree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04288"/>
            <a:ext cx="3063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Owns the root pointer, tracks record count, and provides operations.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2743200"/>
            <a:ext cx="320040" cy="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2743200"/>
            <a:ext cx="320040" cy="0"/>
          </a:xfrm>
          <a:prstGeom prst="line">
            <a:avLst/>
          </a:prstGeom>
          <a:ln w="25400">
            <a:solidFill>
              <a:srgbClr val="27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25196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223D"/>
                </a:solidFill>
                <a:latin typeface="Aptos"/>
              </a:rPr>
              <a:t>Relationship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2412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D3A"/>
                </a:solidFill>
                <a:latin typeface="Aptos"/>
              </a:rPr>
              <a:t>• Each Node stores one Record.
• Each Node can link to zero, one, or two child Nodes.
• BinarySearchTree owns the root and manages node memory.
• main() interacts with the tree through public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Activity diagram: menu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Simplified flow of the menu-driven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502920"/>
          </a:xfrm>
          <a:prstGeom prst="roundRect">
            <a:avLst/>
          </a:prstGeom>
          <a:solidFill>
            <a:srgbClr val="E4F5F1"/>
          </a:solidFill>
          <a:ln>
            <a:solidFill>
              <a:srgbClr val="15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3" y="1591056"/>
            <a:ext cx="3273552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Start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383280" cy="54864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2368296"/>
            <a:ext cx="3273552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Display menu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54680"/>
            <a:ext cx="3383280" cy="59436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3" y="3191256"/>
            <a:ext cx="3273552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Read and validate choice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069080"/>
            <a:ext cx="3840480" cy="640080"/>
          </a:xfrm>
          <a:prstGeom prst="roundRect">
            <a:avLst/>
          </a:prstGeom>
          <a:solidFill>
            <a:srgbClr val="FFF5E4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3" y="4105656"/>
            <a:ext cx="3730752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Perform selected BST operation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29200"/>
            <a:ext cx="3383280" cy="54864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3" y="5065776"/>
            <a:ext cx="3273552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Show result / repeat menu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057400"/>
            <a:ext cx="0" cy="27432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880360"/>
            <a:ext cx="0" cy="27432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749039"/>
            <a:ext cx="0" cy="320041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709160"/>
            <a:ext cx="0" cy="32004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5D6C7E"/>
                </a:solidFill>
                <a:latin typeface="Aptos"/>
              </a:rPr>
              <a:t>Choice 0 exits; invalid input shows an error and returns to the menu.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Activity diagram: searching for a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How the BST narrows the search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8264" y="1591056"/>
            <a:ext cx="3364991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Enter target record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31720"/>
            <a:ext cx="347472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2368296"/>
            <a:ext cx="3364991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Start at root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108960"/>
            <a:ext cx="4023360" cy="594360"/>
          </a:xfrm>
          <a:prstGeom prst="roundRect">
            <a:avLst/>
          </a:prstGeom>
          <a:solidFill>
            <a:srgbClr val="FFF5E4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3145536"/>
            <a:ext cx="3913632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Compare target ID with current 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3154680" cy="73152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379976"/>
            <a:ext cx="3044952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Target is smaller
Move to left child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343400"/>
            <a:ext cx="3108960" cy="731520"/>
          </a:xfrm>
          <a:prstGeom prst="roundRect">
            <a:avLst/>
          </a:prstGeom>
          <a:solidFill>
            <a:srgbClr val="E4F5F1"/>
          </a:solidFill>
          <a:ln>
            <a:solidFill>
              <a:srgbClr val="15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4379976"/>
            <a:ext cx="2999232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IDs match
Display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343400"/>
            <a:ext cx="3154680" cy="73152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4379976"/>
            <a:ext cx="3044952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23D"/>
                </a:solidFill>
                <a:latin typeface="Aptos"/>
              </a:rPr>
              <a:t>Target is larger
Move to right child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057400"/>
            <a:ext cx="0" cy="27432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2834640"/>
            <a:ext cx="0" cy="27432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94560" y="3703320"/>
            <a:ext cx="2560320" cy="640080"/>
          </a:xfrm>
          <a:prstGeom prst="line">
            <a:avLst/>
          </a:prstGeom>
          <a:ln w="20320">
            <a:solidFill>
              <a:srgbClr val="27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3703320"/>
            <a:ext cx="0" cy="640080"/>
          </a:xfrm>
          <a:prstGeom prst="line">
            <a:avLst/>
          </a:prstGeom>
          <a:ln w="2032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06640" y="3703320"/>
            <a:ext cx="2514600" cy="640080"/>
          </a:xfrm>
          <a:prstGeom prst="line">
            <a:avLst/>
          </a:prstGeom>
          <a:ln w="20320">
            <a:solidFill>
              <a:srgbClr val="F29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C54646"/>
                </a:solidFill>
                <a:latin typeface="Aptos"/>
              </a:rPr>
              <a:t>If the current node is null before a match, display “Record not found.”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Mapping the design to project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Keep the UML consistent with the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3063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Menu, input validation, and user interaction.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3832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bst.h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04288"/>
            <a:ext cx="3063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Record, Node, and BinarySearchTree declarations.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3832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73152" cy="182880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38528"/>
            <a:ext cx="3063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bst.cpp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04288"/>
            <a:ext cx="3063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BST insertion, search, deletion, traversal, and cleanup.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2223D"/>
                </a:solidFill>
                <a:latin typeface="Aptos"/>
              </a:rPr>
              <a:t>Compile 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09160"/>
            <a:ext cx="1051560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10149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Consolas"/>
              </a:rPr>
              <a:t>g++ -std=c++17 -Wall -Wextra -pedantic main.cpp bst.cpp -o bst_app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C54646"/>
                </a:solidFill>
                <a:latin typeface="Aptos"/>
              </a:rPr>
              <a:t>Check that every method shown in the UML exists in the final source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4DCCF"/>
                </a:solidFill>
                <a:latin typeface="Aptos"/>
              </a:rPr>
              <a:t>BLAST 01 •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UML / Design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65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74DCCF"/>
                </a:solidFill>
                <a:latin typeface="Apto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57400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UML class diagram for Record, Node, and BinarySearchTree.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9192"/>
            <a:ext cx="365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74DCC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79192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Data members, methods, and class relationships are shown.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00984"/>
            <a:ext cx="365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74DCC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300984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Activity diagram for the menu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22776"/>
            <a:ext cx="365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74DCC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922776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Search flow shows BST comparisons and missing-record handling.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365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74DCC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File mapping matches main.cpp, bst.h, and bst.cpp.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74DCCF"/>
                </a:solidFill>
                <a:latin typeface="Aptos"/>
              </a:rPr>
              <a:t>Before submission, confirm the final code matches this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BST Part 3 — UML and Design</dc:title>
  <dc:subject>BLAST 01 Data Structures and Algorithms</dc:subject>
  <dc:creator>Student presentation draft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