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74DCCF"/>
                </a:solidFill>
                <a:latin typeface="Aptos"/>
              </a:rPr>
              <a:t>BLAST 01  | 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Menu-Based C++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731520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400" b="0">
                <a:solidFill>
                  <a:srgbClr val="CEDDEF"/>
                </a:solidFill>
                <a:latin typeface="Aptos"/>
              </a:rPr>
              <a:t>Binary Search Tree (BST)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3152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Intelligent Record-Search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64008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74DCCF"/>
                </a:solidFill>
                <a:latin typeface="Aptos"/>
              </a:rPr>
              <a:t>Emerging area: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806440"/>
            <a:ext cx="64008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Student: Nagajayamadhup raveen Mahadeva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412480" y="1828800"/>
            <a:ext cx="118872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01200" y="1828800"/>
            <a:ext cx="118872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77240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14984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8992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45168" y="1572768"/>
            <a:ext cx="512064" cy="512064"/>
          </a:xfrm>
          <a:prstGeom prst="ellipse">
            <a:avLst/>
          </a:prstGeom>
          <a:solidFill>
            <a:srgbClr val="15978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5" name="Oval 14"/>
          <p:cNvSpPr/>
          <p:nvPr/>
        </p:nvSpPr>
        <p:spPr>
          <a:xfrm>
            <a:off x="8156448" y="2487168"/>
            <a:ext cx="512064" cy="512064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2487168"/>
            <a:ext cx="512064" cy="512064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17" name="Oval 16"/>
          <p:cNvSpPr/>
          <p:nvPr/>
        </p:nvSpPr>
        <p:spPr>
          <a:xfrm>
            <a:off x="7516368" y="3401568"/>
            <a:ext cx="512064" cy="512064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8" name="Oval 17"/>
          <p:cNvSpPr/>
          <p:nvPr/>
        </p:nvSpPr>
        <p:spPr>
          <a:xfrm>
            <a:off x="8796528" y="3401568"/>
            <a:ext cx="512064" cy="512064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9" name="Oval 18"/>
          <p:cNvSpPr/>
          <p:nvPr/>
        </p:nvSpPr>
        <p:spPr>
          <a:xfrm>
            <a:off x="9893808" y="3401568"/>
            <a:ext cx="512064" cy="512064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20" name="Oval 19"/>
          <p:cNvSpPr/>
          <p:nvPr/>
        </p:nvSpPr>
        <p:spPr>
          <a:xfrm>
            <a:off x="11173968" y="3401568"/>
            <a:ext cx="512064" cy="512064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Part 2: application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The purpose is to demonstrate the data structure—not build a complete commercial AI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23444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1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C++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Must compile and run successfully.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73152" cy="123444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56231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Menu-based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3113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Users can perform multiple meaningful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73152" cy="123444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1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BST is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989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Implement or meaningfully use the assigned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4612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46120"/>
            <a:ext cx="73152" cy="1234440"/>
          </a:xfrm>
          <a:prstGeom prst="rect">
            <a:avLst/>
          </a:prstGeom>
          <a:solidFill>
            <a:srgbClr val="34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64991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Display current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3989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Show records or traversal results.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521208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73152" cy="105156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73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Code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48656"/>
            <a:ext cx="489204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Use classes where appropriate, logical files, validation, readable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754880"/>
            <a:ext cx="521208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754880"/>
            <a:ext cx="73152" cy="1051560"/>
          </a:xfrm>
          <a:prstGeom prst="rect">
            <a:avLst/>
          </a:prstGeom>
          <a:solidFill>
            <a:srgbClr val="C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73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48656"/>
            <a:ext cx="489204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Demonstrate normal operation and at least one meaningful edge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Application scenario: intelligent record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A small educational prototype using record IDs as BST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1">
                <a:solidFill>
                  <a:srgbClr val="15978E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37760" cy="1051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200" b="1">
                <a:solidFill>
                  <a:srgbClr val="12223D"/>
                </a:solidFill>
                <a:latin typeface="Aptos"/>
              </a:rPr>
              <a:t>A user needs to find, add, and manage records without scanning the entire list each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475488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73152" cy="114300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44348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Example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76856"/>
            <a:ext cx="443484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ID: 1042
Description: Network access issue
Status: 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475488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154680"/>
            <a:ext cx="73152" cy="114300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273552"/>
            <a:ext cx="44348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BST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48456"/>
            <a:ext cx="443484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The unique record ID determines where the record is stored and how it is found.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23360"/>
            <a:ext cx="493776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23360"/>
            <a:ext cx="73152" cy="123444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42232"/>
            <a:ext cx="461772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AI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17136"/>
            <a:ext cx="461772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The retrieved record could be passed to a separate AI component for summarization or classification.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C54646"/>
                </a:solidFill>
                <a:latin typeface="Aptos"/>
              </a:rPr>
              <a:t>Scope note: the BST retrieves by key; it does not itself understand natural language or perform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Proposed main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Each option maps to a meaningful BST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486400" cy="4069080"/>
          </a:xfrm>
          <a:prstGeom prst="roundRect">
            <a:avLst/>
          </a:prstGeom>
          <a:solidFill>
            <a:srgbClr val="F6F8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600">
                <a:solidFill>
                  <a:srgbClr val="232D3A"/>
                </a:solidFill>
                <a:latin typeface="Consolas"/>
              </a:rPr>
              <a:t>===== INTELLIGENT RECORD-SEARCH SYSTEM =====
1. Add a record
2. Search by record ID
3. Delete a record
4. Display records in ascending ID order
5. Display minimum and maximum IDs
6. Show record count
0. Exit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828800"/>
            <a:ext cx="438912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73152" cy="105156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947672"/>
            <a:ext cx="406908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Input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322576"/>
            <a:ext cx="406908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Reject invalid menu choices and malformed 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154680"/>
            <a:ext cx="438912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154680"/>
            <a:ext cx="73152" cy="105156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273552"/>
            <a:ext cx="406908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Readable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648456"/>
            <a:ext cx="406908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State whether a record was added, found, deleted, or missing.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480560"/>
            <a:ext cx="438912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4480560"/>
            <a:ext cx="73152" cy="105156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599432"/>
            <a:ext cx="406908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Display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974336"/>
            <a:ext cx="406908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In-order traversal lists current records sorted by 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Class design and logical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Separate the BST logic from the menu and user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29184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219456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1"/>
            <a:ext cx="2971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31136"/>
            <a:ext cx="2971800" cy="1627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• int id
• string description
• string status (optional)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29184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219456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56231"/>
            <a:ext cx="2971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31136"/>
            <a:ext cx="2971800" cy="1627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• Record data
• Node* left
• Node* right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29184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219456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856231"/>
            <a:ext cx="2971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BinarySearchTree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231136"/>
            <a:ext cx="2971800" cy="1627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• insert()
• search()
• remove()
• inorder()
• findMin / findMax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Suggested file organization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09160"/>
            <a:ext cx="329184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709160"/>
            <a:ext cx="73152" cy="105156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28032"/>
            <a:ext cx="2971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main.cpp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02936"/>
            <a:ext cx="297180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Menu, input, and program loop.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709160"/>
            <a:ext cx="329184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4709160"/>
            <a:ext cx="73152" cy="105156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828032"/>
            <a:ext cx="2971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bst.h / bst.cpp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202936"/>
            <a:ext cx="297180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Node and BST operations, if split into files.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709160"/>
            <a:ext cx="329184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4709160"/>
            <a:ext cx="73152" cy="105156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2"/>
            <a:ext cx="2971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Single-file option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202936"/>
            <a:ext cx="2971800" cy="484631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One well-organized .cpp file can suit a small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How the main BST operations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Use the ordering rule consistently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INSERT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3108960" cy="1444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Start at root.
Compare the new ID.
Move left if smaller, right if larger.
Insert at an empty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73152" cy="201168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22576"/>
            <a:ext cx="3108960" cy="1444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Compare target ID at each node.
Follow left or right.
Stop when found or when reaching null.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73152" cy="201168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10896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22576"/>
            <a:ext cx="3108960" cy="1444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Find target node.
Handle leaf, one-child, or two-child case.
Preserve the BST ordering.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22860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Duplicate-key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52544"/>
            <a:ext cx="822960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0">
                <a:solidFill>
                  <a:srgbClr val="232D3A"/>
                </a:solidFill>
                <a:latin typeface="Aptos"/>
              </a:rPr>
              <a:t>Record IDs are unique. If an ID already exists, show a message and do not insert a duplicate.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15978E"/>
                </a:solidFill>
                <a:latin typeface="Aptos"/>
              </a:rPr>
              <a:t>Display option: in-order traversal prints IDs in ascending order.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Input validation and readable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Validation makes behavior predictable and the demo easier to 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23444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Menu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Accept listed options only; handle non-numeric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123444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Record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2257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Require a valid integer; reject duplicate IDs.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73152" cy="123444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Missing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7705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Search/delete of an unknown ID shows “Record not found.”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83280"/>
            <a:ext cx="52120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73152" cy="1234440"/>
          </a:xfrm>
          <a:prstGeom prst="rect">
            <a:avLst/>
          </a:prstGeom>
          <a:solidFill>
            <a:srgbClr val="C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Empty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77056"/>
            <a:ext cx="4892040" cy="6675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Display a clear message if there are no records to list or no minimum/maximum.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66360"/>
            <a:ext cx="1042416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700" b="1">
                <a:solidFill>
                  <a:srgbClr val="12223D"/>
                </a:solidFill>
                <a:latin typeface="Aptos"/>
              </a:rPr>
              <a:t>Example: “Record ID 1042 found — Network access issue — Status: Open”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Testing: normal operation and edge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Record expected behavior, then verify it by running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828800" cy="566928"/>
          </a:xfrm>
          <a:prstGeom prst="rect">
            <a:avLst/>
          </a:prstGeom>
          <a:solidFill>
            <a:srgbClr val="12223D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737360"/>
            <a:ext cx="4389120" cy="566928"/>
          </a:xfrm>
          <a:prstGeom prst="rect">
            <a:avLst/>
          </a:prstGeom>
          <a:solidFill>
            <a:srgbClr val="12223D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810512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737360"/>
            <a:ext cx="4480560" cy="566928"/>
          </a:xfrm>
          <a:prstGeom prst="rect">
            <a:avLst/>
          </a:prstGeom>
          <a:solidFill>
            <a:srgbClr val="12223D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810512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04288"/>
            <a:ext cx="182880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304288"/>
            <a:ext cx="438912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377440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Insert 50, 30, 70; search 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04288"/>
            <a:ext cx="448056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2377440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Record 30 is found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871215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944368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Display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871215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944368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In-order traversal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871215"/>
            <a:ext cx="4480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79" y="2944368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30, 50, 70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438144"/>
            <a:ext cx="182880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511296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Missing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438144"/>
            <a:ext cx="438912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511296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Search ID 999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438144"/>
            <a:ext cx="448056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79" y="3511296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Not found; program continues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0507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078224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Duplicate 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005072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078224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Insert ID 50 twice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005072"/>
            <a:ext cx="4480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79" y="4078224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Duplicate rejected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572000"/>
            <a:ext cx="182880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645152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Empty tree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572000"/>
            <a:ext cx="438912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4645152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Display before inserting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4572000"/>
            <a:ext cx="4480560" cy="566928"/>
          </a:xfrm>
          <a:prstGeom prst="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79" y="4645152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Inform user tree is empty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138927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212079"/>
            <a:ext cx="166420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Deletion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138927"/>
            <a:ext cx="4389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5212079"/>
            <a:ext cx="422452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Delete leaf / one child / two children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5138927"/>
            <a:ext cx="4480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79" y="5212079"/>
            <a:ext cx="4315968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Tree remains correctly ordered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400" b="1">
                <a:solidFill>
                  <a:srgbClr val="15978E"/>
                </a:solidFill>
                <a:latin typeface="Aptos"/>
              </a:rPr>
              <a:t>Confirm observed output matches expected results before reporting tests as 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Illustrative sample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Replace this example with actual terminal output after compiling and running the final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7406640" cy="4297680"/>
          </a:xfrm>
          <a:prstGeom prst="roundRect">
            <a:avLst/>
          </a:prstGeom>
          <a:solidFill>
            <a:srgbClr val="F6F8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>
                <a:solidFill>
                  <a:srgbClr val="232D3A"/>
                </a:solidFill>
                <a:latin typeface="Consolas"/>
              </a:rPr>
              <a:t>===== INTELLIGENT RECORD-SEARCH SYSTEM =====
Choose an option: 1
Enter record ID: 50
Enter description: Network support ticket
Result: Record added successfully.
Choose an option: 2
Enter record ID to search: 50
Result: Record found
ID: 50 | Description: Network support ticket
Choose an option: 4
Records in ascending ID order: 30  50  70
Choose an option: 2
Enter ID: 999
Result: Record not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828800"/>
            <a:ext cx="27432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1828800"/>
            <a:ext cx="73152" cy="132588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19" y="1947672"/>
            <a:ext cx="242316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Important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322576"/>
            <a:ext cx="2423160" cy="7589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This is illustrative output, not a verified run of the final source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520440"/>
            <a:ext cx="27432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9640" y="3520440"/>
            <a:ext cx="73152" cy="132588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19" y="3639312"/>
            <a:ext cx="242316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4014216"/>
            <a:ext cx="2423160" cy="7589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Capture a real terminal screenshot after compiling and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36576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5978E"/>
                </a:solidFill>
                <a:latin typeface="Aptos"/>
              </a:rPr>
              <a:t>BLAST 01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700" b="1">
                <a:solidFill>
                  <a:srgbClr val="12223D"/>
                </a:solidFill>
                <a:latin typeface="Aptos"/>
              </a:rPr>
              <a:t>Compile, run, and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5D6C7E"/>
                </a:solidFill>
                <a:latin typeface="Aptos"/>
              </a:rPr>
              <a:t>Example commands for a single-file C++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5D6C7E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0">
                <a:solidFill>
                  <a:srgbClr val="5D6C7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64008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700">
                <a:solidFill>
                  <a:srgbClr val="232D3A"/>
                </a:solidFill>
                <a:latin typeface="Consolas"/>
              </a:rPr>
              <a:t>g++ -std=c++17 -Wall -Wextra -pedantic main.cpp -o bst_app
./bst_app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3749039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828800"/>
            <a:ext cx="73152" cy="132588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947672"/>
            <a:ext cx="3428999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2223D"/>
                </a:solidFill>
                <a:latin typeface="Aptos"/>
              </a:rPr>
              <a:t>Windows (MinGW)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22576"/>
            <a:ext cx="3428999" cy="7589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g++ -std=c++17 main.cpp -o bst_app.exe
bst_app.exe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Compile and resolve errors.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Run each menu option at least once.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Test empty tree, missing ID, duplicate ID, and deletion cases.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real screenshots and observed output as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1">
                <a:solidFill>
                  <a:srgbClr val="74DCCF"/>
                </a:solidFill>
                <a:latin typeface="Aptos"/>
              </a:rPr>
              <a:t>PART 2 •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What the application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A working C++ menu with multiple meaningful options.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A BST implemented using nodes and left/right links.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Insert, search, delete, sorted display, and min/max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Validation for invalid choices, duplicate IDs, missing records, and an empty tree.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Normal tests plus edge-case tests supported by actual run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74DCCF"/>
                </a:solidFill>
                <a:latin typeface="Aptos"/>
              </a:rPr>
              <a:t>The goal is to demonstrate the data structure clearly—not build a complete AI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BST Part 2 — Menu-Based C++ Application</dc:title>
  <dc:subject>BLAST 01 Data Structures and Algorithms</dc:subject>
  <dc:creator>Student presentation draft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