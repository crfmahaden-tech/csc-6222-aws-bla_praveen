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 flipH="1">
            <a:off x="8412480" y="1828800"/>
            <a:ext cx="118872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9601200" y="1828800"/>
            <a:ext cx="118872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>
            <a:off x="7772400" y="2743200"/>
            <a:ext cx="64008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412480" y="2743200"/>
            <a:ext cx="64008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10149840" y="2743200"/>
            <a:ext cx="64008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89920" y="2743200"/>
            <a:ext cx="640080" cy="914400"/>
          </a:xfrm>
          <a:prstGeom prst="line">
            <a:avLst/>
          </a:prstGeom>
          <a:ln w="25400">
            <a:solidFill>
              <a:srgbClr val="5DAB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9308592" y="1536192"/>
            <a:ext cx="585216" cy="585216"/>
          </a:xfrm>
          <a:prstGeom prst="ellipse">
            <a:avLst/>
          </a:prstGeom>
          <a:solidFill>
            <a:srgbClr val="15978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50</a:t>
            </a:r>
          </a:p>
        </p:txBody>
      </p:sp>
      <p:sp>
        <p:nvSpPr>
          <p:cNvPr id="9" name="Oval 8"/>
          <p:cNvSpPr/>
          <p:nvPr/>
        </p:nvSpPr>
        <p:spPr>
          <a:xfrm>
            <a:off x="8119871" y="2450592"/>
            <a:ext cx="585216" cy="585216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30</a:t>
            </a:r>
          </a:p>
        </p:txBody>
      </p:sp>
      <p:sp>
        <p:nvSpPr>
          <p:cNvPr id="10" name="Oval 9"/>
          <p:cNvSpPr/>
          <p:nvPr/>
        </p:nvSpPr>
        <p:spPr>
          <a:xfrm>
            <a:off x="10497312" y="2450592"/>
            <a:ext cx="585216" cy="585216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70</a:t>
            </a:r>
          </a:p>
        </p:txBody>
      </p:sp>
      <p:sp>
        <p:nvSpPr>
          <p:cNvPr id="11" name="Oval 10"/>
          <p:cNvSpPr/>
          <p:nvPr/>
        </p:nvSpPr>
        <p:spPr>
          <a:xfrm>
            <a:off x="7479792" y="3364992"/>
            <a:ext cx="585216" cy="585216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12" name="Oval 11"/>
          <p:cNvSpPr/>
          <p:nvPr/>
        </p:nvSpPr>
        <p:spPr>
          <a:xfrm>
            <a:off x="8759952" y="3364992"/>
            <a:ext cx="585216" cy="585216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40</a:t>
            </a:r>
          </a:p>
        </p:txBody>
      </p:sp>
      <p:sp>
        <p:nvSpPr>
          <p:cNvPr id="13" name="Oval 12"/>
          <p:cNvSpPr/>
          <p:nvPr/>
        </p:nvSpPr>
        <p:spPr>
          <a:xfrm>
            <a:off x="9857232" y="3364992"/>
            <a:ext cx="585216" cy="585216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14" name="Oval 13"/>
          <p:cNvSpPr/>
          <p:nvPr/>
        </p:nvSpPr>
        <p:spPr>
          <a:xfrm>
            <a:off x="11137392" y="3364992"/>
            <a:ext cx="585216" cy="585216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85800"/>
            <a:ext cx="4572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74DCCF"/>
                </a:solidFill>
                <a:latin typeface="Aptos"/>
              </a:rPr>
              <a:t>BLAST 01  |  PART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234440"/>
            <a:ext cx="777240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"/>
              </a:rPr>
              <a:t>Binary Search Tree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084831"/>
            <a:ext cx="68580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0" i="0">
                <a:solidFill>
                  <a:srgbClr val="CEDDEF"/>
                </a:solidFill>
                <a:latin typeface="Aptos"/>
              </a:rPr>
              <a:t>Research &amp; Introduction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834640"/>
            <a:ext cx="65836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ptos"/>
              </a:rPr>
              <a:t>Intelligent Record-Search System in C++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474720"/>
            <a:ext cx="6400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A4C0DB"/>
                </a:solidFill>
                <a:latin typeface="Aptos"/>
              </a:rPr>
              <a:t>Emerging technology area: Artificial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172200"/>
            <a:ext cx="5486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A4C0DB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43E7FC-EA7C-34D8-3555-29F2BFE43BDA}"/>
              </a:ext>
            </a:extLst>
          </p:cNvPr>
          <p:cNvSpPr txBox="1"/>
          <p:nvPr/>
        </p:nvSpPr>
        <p:spPr>
          <a:xfrm>
            <a:off x="731520" y="4362241"/>
            <a:ext cx="7217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Presented by : Praveen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2"/>
                </a:solidFill>
              </a:rPr>
              <a:t>Faculty Advisor : Dr. Victor </a:t>
            </a:r>
            <a:r>
              <a:rPr lang="en-IN" sz="2400" dirty="0" err="1">
                <a:solidFill>
                  <a:schemeClr val="bg2"/>
                </a:solidFill>
              </a:rPr>
              <a:t>Govindaswamy</a:t>
            </a:r>
            <a:endParaRPr lang="en-IN" sz="24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01 •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Project purpose and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A traditional data structure supporting an AI-enabled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15978E"/>
                </a:solidFill>
                <a:latin typeface="Aptos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54864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 i="0">
                <a:solidFill>
                  <a:srgbClr val="12223D"/>
                </a:solidFill>
                <a:latin typeface="Aptos"/>
              </a:rPr>
              <a:t>Demonstrate how a Binary Search Tree organizes records and supports key-based retrieval in a small, menu-driven C++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783080"/>
            <a:ext cx="4846320" cy="10972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83680" y="1783080"/>
            <a:ext cx="73152" cy="109728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4848" y="1929384"/>
            <a:ext cx="4498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350008"/>
            <a:ext cx="4498848" cy="4206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Records are organized by a unique ID.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063240"/>
            <a:ext cx="4846320" cy="10972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3063240"/>
            <a:ext cx="73152" cy="109728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3209544"/>
            <a:ext cx="4498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3630168"/>
            <a:ext cx="4498848" cy="4206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Compare keys and follow the left or right branch.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343400"/>
            <a:ext cx="4846320" cy="10972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0" y="4343400"/>
            <a:ext cx="73152" cy="109728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84848" y="4489704"/>
            <a:ext cx="449884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Connect to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4910328"/>
            <a:ext cx="4498848" cy="42062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Retrieve a record before an AI component classifies or summarizes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5303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C54646"/>
                </a:solidFill>
                <a:latin typeface="Aptos"/>
              </a:rPr>
              <a:t>Key distinction: a BST retrieves by key; it does not itself perform AI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02 •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What is a Binary Search Tree?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A binary tree that keeps keys ordered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2223D"/>
                </a:solidFill>
                <a:latin typeface="Aptos"/>
              </a:rPr>
              <a:t>BST ordering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4937760" cy="2926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Each node has at most two children.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Keys smaller than a node go to its left subtree.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Keys greater than a node go to its right subtree.</a:t>
            </a:r>
          </a:p>
          <a:p>
            <a:pPr>
              <a:spcAft>
                <a:spcPts val="1000"/>
              </a:spcAft>
              <a:defRPr sz="1800">
                <a:solidFill>
                  <a:srgbClr val="232D3A"/>
                </a:solidFill>
                <a:latin typeface="Aptos"/>
              </a:defRPr>
            </a:pPr>
            <a:r>
              <a:t>•  The first inserted node becomes the root.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743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2223D"/>
                </a:solidFill>
                <a:latin typeface="Aptos"/>
              </a:rPr>
              <a:t>Node anatomy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423160"/>
            <a:ext cx="411480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2768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2633472"/>
            <a:ext cx="3566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12223D"/>
                </a:solidFill>
                <a:latin typeface="Aptos"/>
              </a:rPr>
              <a:t>Record ID / key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990088"/>
            <a:ext cx="3566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232D3A"/>
                </a:solidFill>
                <a:latin typeface="Aptos"/>
              </a:rPr>
              <a:t>Record information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040880" y="3657600"/>
            <a:ext cx="457199" cy="59436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75520" y="3657600"/>
            <a:ext cx="457200" cy="594360"/>
          </a:xfrm>
          <a:prstGeom prst="line">
            <a:avLst/>
          </a:prstGeom>
          <a:ln w="25400">
            <a:solidFill>
              <a:srgbClr val="1597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17920" y="43434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5978E"/>
                </a:solidFill>
                <a:latin typeface="Aptos"/>
              </a:rPr>
              <a:t>Left pointer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434340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5978E"/>
                </a:solidFill>
                <a:latin typeface="Aptos"/>
              </a:rPr>
              <a:t>Right pointer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074920"/>
            <a:ext cx="521208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5D6C7E"/>
                </a:solidFill>
                <a:latin typeface="Aptos"/>
              </a:rPr>
              <a:t>The search key is the value used to decide which branch to follow.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03 •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BST structure: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Each comparison narrows the next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04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114800" y="1920240"/>
            <a:ext cx="1965960" cy="1051560"/>
          </a:xfrm>
          <a:prstGeom prst="line">
            <a:avLst/>
          </a:prstGeom>
          <a:ln w="25400">
            <a:solidFill>
              <a:srgbClr val="879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1920240"/>
            <a:ext cx="1965960" cy="1051560"/>
          </a:xfrm>
          <a:prstGeom prst="line">
            <a:avLst/>
          </a:prstGeom>
          <a:ln w="25400">
            <a:solidFill>
              <a:srgbClr val="879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971800" y="2971800"/>
            <a:ext cx="1143000" cy="1188720"/>
          </a:xfrm>
          <a:prstGeom prst="line">
            <a:avLst/>
          </a:prstGeom>
          <a:ln w="25400">
            <a:solidFill>
              <a:srgbClr val="879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2971800"/>
            <a:ext cx="1005840" cy="1188720"/>
          </a:xfrm>
          <a:prstGeom prst="line">
            <a:avLst/>
          </a:prstGeom>
          <a:ln w="25400">
            <a:solidFill>
              <a:srgbClr val="879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040880" y="2971800"/>
            <a:ext cx="1005840" cy="1188720"/>
          </a:xfrm>
          <a:prstGeom prst="line">
            <a:avLst/>
          </a:prstGeom>
          <a:ln w="25400">
            <a:solidFill>
              <a:srgbClr val="879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2971800"/>
            <a:ext cx="1097280" cy="1188720"/>
          </a:xfrm>
          <a:prstGeom prst="line">
            <a:avLst/>
          </a:prstGeom>
          <a:ln w="25400">
            <a:solidFill>
              <a:srgbClr val="879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769864" y="1609344"/>
            <a:ext cx="621792" cy="621792"/>
          </a:xfrm>
          <a:prstGeom prst="ellipse">
            <a:avLst/>
          </a:prstGeom>
          <a:solidFill>
            <a:srgbClr val="15978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50</a:t>
            </a:r>
          </a:p>
        </p:txBody>
      </p:sp>
      <p:sp>
        <p:nvSpPr>
          <p:cNvPr id="15" name="Oval 14"/>
          <p:cNvSpPr/>
          <p:nvPr/>
        </p:nvSpPr>
        <p:spPr>
          <a:xfrm>
            <a:off x="3803904" y="266090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30</a:t>
            </a:r>
          </a:p>
        </p:txBody>
      </p:sp>
      <p:sp>
        <p:nvSpPr>
          <p:cNvPr id="16" name="Oval 15"/>
          <p:cNvSpPr/>
          <p:nvPr/>
        </p:nvSpPr>
        <p:spPr>
          <a:xfrm>
            <a:off x="7735824" y="266090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70</a:t>
            </a:r>
          </a:p>
        </p:txBody>
      </p:sp>
      <p:sp>
        <p:nvSpPr>
          <p:cNvPr id="17" name="Oval 16"/>
          <p:cNvSpPr/>
          <p:nvPr/>
        </p:nvSpPr>
        <p:spPr>
          <a:xfrm>
            <a:off x="2660904" y="384962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18" name="Oval 17"/>
          <p:cNvSpPr/>
          <p:nvPr/>
        </p:nvSpPr>
        <p:spPr>
          <a:xfrm>
            <a:off x="4809744" y="384962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40</a:t>
            </a:r>
          </a:p>
        </p:txBody>
      </p:sp>
      <p:sp>
        <p:nvSpPr>
          <p:cNvPr id="19" name="Oval 18"/>
          <p:cNvSpPr/>
          <p:nvPr/>
        </p:nvSpPr>
        <p:spPr>
          <a:xfrm>
            <a:off x="6729984" y="384962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20" name="Oval 19"/>
          <p:cNvSpPr/>
          <p:nvPr/>
        </p:nvSpPr>
        <p:spPr>
          <a:xfrm>
            <a:off x="8833104" y="384962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166360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2223D"/>
                </a:solidFill>
                <a:latin typeface="Aptos"/>
              </a:rPr>
              <a:t>In-order traversal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138928"/>
            <a:ext cx="81381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 i="0">
                <a:solidFill>
                  <a:srgbClr val="15978E"/>
                </a:solidFill>
                <a:latin typeface="Aptos"/>
              </a:rPr>
              <a:t>20  →  30  →  40  →  50  →  60  →  70  →  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715000"/>
            <a:ext cx="8412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 i="0">
                <a:solidFill>
                  <a:srgbClr val="5D6C7E"/>
                </a:solidFill>
                <a:latin typeface="Aptos"/>
              </a:rPr>
              <a:t>Smaller keys appear left; larger keys appear right (unique-key example).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04 •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Major BST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The core actions for the record-search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123444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INSERT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035808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Add a record at the correct empty 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828800"/>
            <a:ext cx="33832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26280" y="1828800"/>
            <a:ext cx="73152" cy="123444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197510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395728"/>
            <a:ext cx="3035808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Compare the target ID; move left or right.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33832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828800"/>
            <a:ext cx="73152" cy="123444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22208" y="197510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DELETE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395728"/>
            <a:ext cx="3035808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Remove a node and preserve the ordering rule.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29000"/>
            <a:ext cx="33832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73152" cy="1234440"/>
          </a:xfrm>
          <a:prstGeom prst="rect">
            <a:avLst/>
          </a:prstGeom>
          <a:solidFill>
            <a:srgbClr val="34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57530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TRAVERSE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3995928"/>
            <a:ext cx="3035808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Visit nodes in sorted order using in-order traversal.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429000"/>
            <a:ext cx="3383280" cy="1234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80" y="3429000"/>
            <a:ext cx="73152" cy="1234440"/>
          </a:xfrm>
          <a:prstGeom prst="rect">
            <a:avLst/>
          </a:prstGeom>
          <a:solidFill>
            <a:srgbClr val="C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27448" y="3575304"/>
            <a:ext cx="30358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MIN / MAX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3995928"/>
            <a:ext cx="3035808" cy="557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Follow the leftmost or rightmost path.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12223D"/>
                </a:solidFill>
                <a:latin typeface="Aptos"/>
              </a:rPr>
              <a:t>Deletion cases: leaf node • one child • two children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05 • SEARCH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Example: searching for record ID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Follow comparisons from the root to the matching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4114800" y="1874519"/>
            <a:ext cx="1965960" cy="1005841"/>
          </a:xfrm>
          <a:prstGeom prst="line">
            <a:avLst/>
          </a:prstGeom>
          <a:ln w="25400">
            <a:solidFill>
              <a:srgbClr val="91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1874519"/>
            <a:ext cx="1965960" cy="1005841"/>
          </a:xfrm>
          <a:prstGeom prst="line">
            <a:avLst/>
          </a:prstGeom>
          <a:ln w="25400">
            <a:solidFill>
              <a:srgbClr val="91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971800" y="2880360"/>
            <a:ext cx="1143000" cy="1143000"/>
          </a:xfrm>
          <a:prstGeom prst="line">
            <a:avLst/>
          </a:prstGeom>
          <a:ln w="25400">
            <a:solidFill>
              <a:srgbClr val="91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0" y="2880360"/>
            <a:ext cx="1005840" cy="1143000"/>
          </a:xfrm>
          <a:prstGeom prst="line">
            <a:avLst/>
          </a:prstGeom>
          <a:ln w="25400">
            <a:solidFill>
              <a:srgbClr val="91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040880" y="2880360"/>
            <a:ext cx="1005840" cy="1143000"/>
          </a:xfrm>
          <a:prstGeom prst="line">
            <a:avLst/>
          </a:prstGeom>
          <a:ln w="25400">
            <a:solidFill>
              <a:srgbClr val="91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46720" y="2880360"/>
            <a:ext cx="1097280" cy="1143000"/>
          </a:xfrm>
          <a:prstGeom prst="line">
            <a:avLst/>
          </a:prstGeom>
          <a:ln w="25400">
            <a:solidFill>
              <a:srgbClr val="91A0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769864" y="1563623"/>
            <a:ext cx="621792" cy="621792"/>
          </a:xfrm>
          <a:prstGeom prst="ellipse">
            <a:avLst/>
          </a:prstGeom>
          <a:solidFill>
            <a:srgbClr val="F29D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50</a:t>
            </a:r>
          </a:p>
        </p:txBody>
      </p:sp>
      <p:sp>
        <p:nvSpPr>
          <p:cNvPr id="15" name="Oval 14"/>
          <p:cNvSpPr/>
          <p:nvPr/>
        </p:nvSpPr>
        <p:spPr>
          <a:xfrm>
            <a:off x="3803904" y="256946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30</a:t>
            </a:r>
          </a:p>
        </p:txBody>
      </p:sp>
      <p:sp>
        <p:nvSpPr>
          <p:cNvPr id="16" name="Oval 15"/>
          <p:cNvSpPr/>
          <p:nvPr/>
        </p:nvSpPr>
        <p:spPr>
          <a:xfrm>
            <a:off x="7735824" y="2569464"/>
            <a:ext cx="621792" cy="621792"/>
          </a:xfrm>
          <a:prstGeom prst="ellipse">
            <a:avLst/>
          </a:prstGeom>
          <a:solidFill>
            <a:srgbClr val="F29D3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70</a:t>
            </a:r>
          </a:p>
        </p:txBody>
      </p:sp>
      <p:sp>
        <p:nvSpPr>
          <p:cNvPr id="17" name="Oval 16"/>
          <p:cNvSpPr/>
          <p:nvPr/>
        </p:nvSpPr>
        <p:spPr>
          <a:xfrm>
            <a:off x="2660904" y="371246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18" name="Oval 17"/>
          <p:cNvSpPr/>
          <p:nvPr/>
        </p:nvSpPr>
        <p:spPr>
          <a:xfrm>
            <a:off x="4809744" y="371246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40</a:t>
            </a:r>
          </a:p>
        </p:txBody>
      </p:sp>
      <p:sp>
        <p:nvSpPr>
          <p:cNvPr id="19" name="Oval 18"/>
          <p:cNvSpPr/>
          <p:nvPr/>
        </p:nvSpPr>
        <p:spPr>
          <a:xfrm>
            <a:off x="6729984" y="3712464"/>
            <a:ext cx="621792" cy="621792"/>
          </a:xfrm>
          <a:prstGeom prst="ellipse">
            <a:avLst/>
          </a:prstGeom>
          <a:solidFill>
            <a:srgbClr val="348E5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60</a:t>
            </a:r>
          </a:p>
        </p:txBody>
      </p:sp>
      <p:sp>
        <p:nvSpPr>
          <p:cNvPr id="20" name="Oval 19"/>
          <p:cNvSpPr/>
          <p:nvPr/>
        </p:nvSpPr>
        <p:spPr>
          <a:xfrm>
            <a:off x="8833104" y="3712464"/>
            <a:ext cx="621792" cy="621792"/>
          </a:xfrm>
          <a:prstGeom prst="ellipse">
            <a:avLst/>
          </a:prstGeom>
          <a:solidFill>
            <a:srgbClr val="2768A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80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011680"/>
            <a:ext cx="2377440" cy="2194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2011680"/>
            <a:ext cx="73152" cy="219456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2157984"/>
            <a:ext cx="20299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2578608"/>
            <a:ext cx="2029968" cy="15179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32D3A"/>
                </a:solidFill>
                <a:latin typeface="Aptos"/>
              </a:rPr>
              <a:t>60 &gt; 50
Move right.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828800"/>
            <a:ext cx="237744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52560" y="1828800"/>
            <a:ext cx="73152" cy="141732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53728" y="1975104"/>
            <a:ext cx="20299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3728" y="2395728"/>
            <a:ext cx="2029968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232D3A"/>
                </a:solidFill>
                <a:latin typeface="Aptos"/>
              </a:rPr>
              <a:t>60 &lt; 70
Move left.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3657600"/>
            <a:ext cx="2377440" cy="132588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52560" y="3657600"/>
            <a:ext cx="73152" cy="1325880"/>
          </a:xfrm>
          <a:prstGeom prst="rect">
            <a:avLst/>
          </a:prstGeom>
          <a:solidFill>
            <a:srgbClr val="34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53728" y="3803904"/>
            <a:ext cx="202996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Found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4224528"/>
            <a:ext cx="2029968" cy="6492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232D3A"/>
                </a:solidFill>
                <a:latin typeface="Aptos"/>
              </a:rPr>
              <a:t>Node 60 matches.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349240"/>
            <a:ext cx="85039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12223D"/>
                </a:solidFill>
                <a:latin typeface="Aptos"/>
              </a:rPr>
              <a:t>A BST search can skip entire subtrees after each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07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Advantages, limitations and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Choose a BST based on the data and performance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3337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3337560"/>
          </a:xfrm>
          <a:prstGeom prst="rect">
            <a:avLst/>
          </a:prstGeom>
          <a:solidFill>
            <a:srgbClr val="34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48646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12223D"/>
                </a:solidFill>
                <a:latin typeface="Aptos"/>
              </a:rPr>
              <a:t>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864608" cy="26609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32D3A"/>
                </a:solidFill>
                <a:latin typeface="Aptos"/>
              </a:rPr>
              <a:t>• Ordered record storage
• Search, insertion and deletion
• Sorted output with in-order traversal
• Dynamic structure; no array shifting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3337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3337560"/>
          </a:xfrm>
          <a:prstGeom prst="rect">
            <a:avLst/>
          </a:prstGeom>
          <a:solidFill>
            <a:srgbClr val="C5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48646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12223D"/>
                </a:solidFill>
                <a:latin typeface="Aptos"/>
              </a:rP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8"/>
            <a:ext cx="4864608" cy="26609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32D3A"/>
                </a:solidFill>
                <a:latin typeface="Aptos"/>
              </a:rPr>
              <a:t>• Can become unbalanced
• Pointer and allocation overhead
• Duplicate keys need a policy
• No semantic understanding or AI reasoning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623560"/>
            <a:ext cx="99669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1" i="0">
                <a:solidFill>
                  <a:srgbClr val="12223D"/>
                </a:solidFill>
                <a:latin typeface="Aptos"/>
              </a:rPr>
              <a:t>Best fit: dynamic, key-based records where ordered retrieval is useful.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08 •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Real-world applications of search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Distinguish the BST concept from the exact structures used in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2377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237744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48646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2223D"/>
                </a:solidFill>
                <a:latin typeface="Aptos"/>
              </a:rPr>
              <a:t>1 • Database indexing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864608" cy="1700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232D3A"/>
                </a:solidFill>
                <a:latin typeface="Aptos"/>
              </a:rPr>
              <a:t>Databases use tree-based indexes to locate records efficiently. Production databases commonly use B-tree/B+ tree indexes rather than a simple BST.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237744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237744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48646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2223D"/>
                </a:solidFill>
                <a:latin typeface="Aptos"/>
              </a:rPr>
              <a:t>2 • Software symbol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8"/>
            <a:ext cx="4864608" cy="17007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232D3A"/>
                </a:solidFill>
                <a:latin typeface="Aptos"/>
              </a:rPr>
              <a:t>Compilers and language tools organize identifiers such as variables and functions. Depending on needs, implementations may use hash tables or balanced trees.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698480" cy="105156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572000"/>
            <a:ext cx="73152" cy="105156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2688" y="4718304"/>
            <a:ext cx="10351007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Project connection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138928"/>
            <a:ext cx="10351007" cy="37490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Our C++ application stores records by unique ID, searches by key, and lists results in ascending order.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09 • 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How a BST can support an AI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Example workflow: AI-assisted support-record lookup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86000"/>
            <a:ext cx="242316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73152" cy="141732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" y="2432304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User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52928"/>
            <a:ext cx="2075688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Find ticket #1042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53512" y="2743200"/>
            <a:ext cx="411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5D6C7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286000"/>
            <a:ext cx="242316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29000" y="2286000"/>
            <a:ext cx="73152" cy="141732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8" y="2432304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BST lookup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852928"/>
            <a:ext cx="2075688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Retrieve record by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9592" y="2743200"/>
            <a:ext cx="411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5D6C7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286000"/>
            <a:ext cx="242316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80" y="2286000"/>
            <a:ext cx="73152" cy="1417320"/>
          </a:xfrm>
          <a:prstGeom prst="rect">
            <a:avLst/>
          </a:prstGeom>
          <a:solidFill>
            <a:srgbClr val="F29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8" y="2432304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AI component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8" y="2852928"/>
            <a:ext cx="2075688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Classify / summarize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05672" y="2743200"/>
            <a:ext cx="411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500" b="1" i="0">
                <a:solidFill>
                  <a:srgbClr val="5D6C7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60" y="2286000"/>
            <a:ext cx="2423160" cy="141732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281160" y="2286000"/>
            <a:ext cx="73152" cy="1417320"/>
          </a:xfrm>
          <a:prstGeom prst="rect">
            <a:avLst/>
          </a:prstGeom>
          <a:solidFill>
            <a:srgbClr val="348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2432304"/>
            <a:ext cx="207568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2223D"/>
                </a:solidFill>
                <a:latin typeface="Aptos"/>
              </a:rPr>
              <a:t>User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852928"/>
            <a:ext cx="2075688" cy="7406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232D3A"/>
                </a:solidFill>
                <a:latin typeface="Aptos"/>
              </a:rPr>
              <a:t>Show record +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343400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5978E"/>
                </a:solidFill>
                <a:latin typeface="Aptos"/>
              </a:rPr>
              <a:t>BST 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315968"/>
            <a:ext cx="8869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232D3A"/>
                </a:solidFill>
                <a:latin typeface="Aptos"/>
              </a:rPr>
              <a:t>Fast key-based retrieval when the tree is reasonably balanced.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12801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F29D38"/>
                </a:solidFill>
                <a:latin typeface="Aptos"/>
              </a:rPr>
              <a:t>AI role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864608"/>
            <a:ext cx="89611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232D3A"/>
                </a:solidFill>
                <a:latin typeface="Aptos"/>
              </a:rPr>
              <a:t>Interpret text, classify issues, summarize content, or suggest a response.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C54646"/>
                </a:solidFill>
                <a:latin typeface="Aptos"/>
              </a:rPr>
              <a:t>A conventional BST does not understand meaning or perform machine learning by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10 • INDUSTRY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Industry examples and project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Credible examples without unsupported claims about internal implementations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212080" cy="233172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2331720"/>
          </a:xfrm>
          <a:prstGeom prst="rect">
            <a:avLst/>
          </a:prstGeom>
          <a:solidFill>
            <a:srgbClr val="2768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48646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2223D"/>
                </a:solidFill>
                <a:latin typeface="Aptos"/>
              </a:rPr>
              <a:t>Database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864608" cy="16550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2D3A"/>
                </a:solidFill>
                <a:latin typeface="Aptos"/>
              </a:rPr>
              <a:t>MySQL and PostgreSQL document index types used to speed up data retrieval. Their documented index structures include tree-based options; this does not mean they use an ordinary BST for every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212080" cy="2331720"/>
          </a:xfrm>
          <a:prstGeom prst="roundRect">
            <a:avLst/>
          </a:prstGeom>
          <a:solidFill>
            <a:srgbClr val="EFF5FB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828800"/>
            <a:ext cx="73152" cy="2331720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19088" y="1975104"/>
            <a:ext cx="486460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12223D"/>
                </a:solidFill>
                <a:latin typeface="Aptos"/>
              </a:rPr>
              <a:t>Proposed AI-enabled support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95728"/>
            <a:ext cx="4864608" cy="16550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0">
                <a:solidFill>
                  <a:srgbClr val="232D3A"/>
                </a:solidFill>
                <a:latin typeface="Aptos"/>
              </a:rPr>
              <a:t>A ticket ID is located in the BST; the retrieved description can then be passed to a separate AI service for summarization or classification. This is a project design example, not a claim about a named vendor's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 i="0">
                <a:solidFill>
                  <a:srgbClr val="12223D"/>
                </a:solidFill>
                <a:latin typeface="Aptos"/>
              </a:rPr>
              <a:t>Takeaway: the BST can be the retrieval layer; AI processing is a separate component.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2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4114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74DCCF"/>
                </a:solidFill>
                <a:latin typeface="Aptos"/>
              </a:rPr>
              <a:t>PART 1 •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943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10241280" cy="2651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BST ordering supports key-based search and sorted traversal.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Performance depends on tree height: average-shaped trees can be efficient; skewed trees can degrade to O(n).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Search trees are useful in record management and related software systems.</a:t>
            </a:r>
          </a:p>
          <a:p>
            <a:pPr>
              <a:spcAft>
                <a:spcPts val="1400"/>
              </a:spcAft>
              <a:defRPr sz="1900">
                <a:solidFill>
                  <a:srgbClr val="FFFFFF"/>
                </a:solidFill>
                <a:latin typeface="Aptos"/>
              </a:defRPr>
            </a:pPr>
            <a:r>
              <a:t>•  A BST can support an AI workflow by retrieving records, but it is not itself an AI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349240"/>
            <a:ext cx="10058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 i="0">
                <a:solidFill>
                  <a:srgbClr val="74DCCF"/>
                </a:solidFill>
                <a:latin typeface="Aptos"/>
              </a:rPr>
              <a:t>Next: implement and test the menu-based C++ Intelligent Record-Search 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172200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A4C0DB"/>
                </a:solidFill>
                <a:latin typeface="Aptos"/>
              </a:rPr>
              <a:t>Part 1 • Research &amp; Introduction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597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5978E"/>
                </a:solidFill>
                <a:latin typeface="Aptos"/>
              </a:rPr>
              <a:t>11 •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2223D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2471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5D6C7E"/>
                </a:solidFill>
                <a:latin typeface="Aptos"/>
              </a:rPr>
              <a:t>Use these sources to support the research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0">
                <a:solidFill>
                  <a:srgbClr val="5D6C7E"/>
                </a:solidFill>
                <a:latin typeface="Aptos"/>
              </a:rPr>
              <a:t>BLAST 01  •  Data Structures &amp;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5D6C7E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2223D"/>
                </a:solidFill>
                <a:latin typeface="Aptos"/>
              </a:rPr>
              <a:t>1. Cormen et al. — Introduction to Algorithms, 4th ed. (MIT Press, 2022)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2768AD"/>
                </a:solidFill>
                <a:latin typeface="Aptos"/>
              </a:rPr>
              <a:t>https://mitpress.mit.edu/9780262046305/introduction-to-algorithms/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2223D"/>
                </a:solidFill>
                <a:latin typeface="Aptos"/>
              </a:rPr>
              <a:t>2. Open Data Structures — Binary Search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62072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 dirty="0">
                <a:solidFill>
                  <a:srgbClr val="2768AD"/>
                </a:solidFill>
                <a:latin typeface="Aptos"/>
              </a:rPr>
              <a:t>https://opendatastructures.org/ods-cpp/6_Binary_Trees.html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46704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2223D"/>
                </a:solidFill>
                <a:latin typeface="Aptos"/>
              </a:rPr>
              <a:t>3. MySQL 8.4 Reference Manual — InnoDB Index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66744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768AD"/>
                </a:solidFill>
                <a:latin typeface="Aptos"/>
              </a:rPr>
              <a:t>https://dev.mysql.com/doc/refman/8.4/en/innodb-index-types.html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51376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2223D"/>
                </a:solidFill>
                <a:latin typeface="Aptos"/>
              </a:rPr>
              <a:t>4. PostgreSQL Documentation — Index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71416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768AD"/>
                </a:solidFill>
                <a:latin typeface="Aptos"/>
              </a:rPr>
              <a:t>https://www.postgresql.org/docs/current/indexes-types.html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56048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 i="0">
                <a:solidFill>
                  <a:srgbClr val="12223D"/>
                </a:solidFill>
                <a:latin typeface="Aptos"/>
              </a:rPr>
              <a:t>5. Russell &amp; Norvig — Artificial Intelligence: A Modern Approach, 4th 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76088"/>
            <a:ext cx="10332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2768AD"/>
                </a:solidFill>
                <a:latin typeface="Aptos"/>
              </a:rPr>
              <a:t>https://aima.cs.berkeley.edu/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5D6C7E"/>
                </a:solidFill>
                <a:latin typeface="Aptos"/>
              </a:rPr>
              <a:t>Verify access and citation details before final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1119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Tree — Part 1 Research and Introduction</dc:title>
  <dc:subject>BLAST 01 Data Structures and Algorithms; AI; Intelligent Record-Search System</dc:subject>
  <dc:creator>Student presentation draft</dc:creator>
  <cp:keywords>Binary Search Tree, C++, Artificial Intelligence, BST</cp:keywords>
  <dc:description>generated using python-pptx</dc:description>
  <cp:lastModifiedBy>Naga Mahadeva</cp:lastModifiedBy>
  <cp:revision>2</cp:revision>
  <dcterms:created xsi:type="dcterms:W3CDTF">2013-01-27T09:14:16Z</dcterms:created>
  <dcterms:modified xsi:type="dcterms:W3CDTF">2026-10-21T23:56:01Z</dcterms:modified>
  <cp:category/>
</cp:coreProperties>
</file>